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3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Ground Truth</c:v>
                </c:pt>
              </c:strCache>
            </c:strRef>
          </c:tx>
          <c:spPr>
            <a:solidFill>
              <a:srgbClr val="0000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Shallow
Low Conflict</c:v>
                  </c:pt>
                  <c:pt idx="1">
                    <c:v>Medium
Conflict</c:v>
                  </c:pt>
                  <c:pt idx="2">
                    <c:v>Deep
High Conflict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</c:v>
                </c:pt>
                <c:pt idx="1">
                  <c:v>1</c:v>
                </c:pt>
                <c:pt idx="2">
                  <c:v>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Quantum Encoded</c:v>
                </c:pt>
              </c:strCache>
            </c:strRef>
          </c:tx>
          <c:spPr>
            <a:solidFill>
              <a:srgbClr val="EBAB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Shallow
Low Conflict</c:v>
                  </c:pt>
                  <c:pt idx="1">
                    <c:v>Medium
Conflict</c:v>
                  </c:pt>
                  <c:pt idx="2">
                    <c:v>Deep
High Conflict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</c:v>
                </c:pt>
                <c:pt idx="1">
                  <c:v>1</c:v>
                </c:pt>
                <c:pt idx="2">
                  <c:v>0.984375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Residual MLP</c:v>
                </c:pt>
              </c:strCache>
            </c:strRef>
          </c:tx>
          <c:spPr>
            <a:solidFill>
              <a:srgbClr val="BB0F3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Shallow
Low Conflict</c:v>
                  </c:pt>
                  <c:pt idx="1">
                    <c:v>Medium
Conflict</c:v>
                  </c:pt>
                  <c:pt idx="2">
                    <c:v>Deep
High Conflict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0.859375</c:v>
                </c:pt>
                <c:pt idx="1">
                  <c:v>0.90625</c:v>
                </c:pt>
                <c:pt idx="2">
                  <c:v>0.953125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6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05"/>
          <c:min val="0"/>
        </c:scaling>
        <c:delete val="0"/>
        <c:axPos val="l"/>
        <c:majorGridlines>
          <c:spPr>
            <a:ln w="12700" cap="flat">
              <a:solidFill>
                <a:srgbClr val="D9D9D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0.2"/>
      </c:valAx>
      <c:spPr>
        <a:noFill/>
        <a:ln w="12700" cap="flat">
          <a:solidFill>
            <a:srgbClr val="D7CCA3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1400"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Ground Truth</c:v>
                </c:pt>
              </c:strCache>
            </c:strRef>
          </c:tx>
          <c:spPr>
            <a:solidFill>
              <a:srgbClr val="0000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Shallow
Low Conflict</c:v>
                  </c:pt>
                  <c:pt idx="1">
                    <c:v>Medium
Conflict</c:v>
                  </c:pt>
                  <c:pt idx="2">
                    <c:v>Deep
High Conflict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Quantum Encoded</c:v>
                </c:pt>
              </c:strCache>
            </c:strRef>
          </c:tx>
          <c:spPr>
            <a:solidFill>
              <a:srgbClr val="EBAB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Shallow
Low Conflict</c:v>
                  </c:pt>
                  <c:pt idx="1">
                    <c:v>Medium
Conflict</c:v>
                  </c:pt>
                  <c:pt idx="2">
                    <c:v>Deep
High Conflict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0.000008850782840160235</c:v>
                </c:pt>
                <c:pt idx="1">
                  <c:v>0</c:v>
                </c:pt>
                <c:pt idx="2">
                  <c:v>0.0001009681619313172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Residual MLP</c:v>
                </c:pt>
              </c:strCache>
            </c:strRef>
          </c:tx>
          <c:spPr>
            <a:solidFill>
              <a:srgbClr val="BB0F3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Shallow
Low Conflict</c:v>
                  </c:pt>
                  <c:pt idx="1">
                    <c:v>Medium
Conflict</c:v>
                  </c:pt>
                  <c:pt idx="2">
                    <c:v>Deep
High Conflict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0.010416173561331702</c:v>
                </c:pt>
                <c:pt idx="1">
                  <c:v>0.0027224394812521407</c:v>
                </c:pt>
                <c:pt idx="2">
                  <c:v>0.0036621980905184445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6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012"/>
          <c:min val="0"/>
        </c:scaling>
        <c:delete val="0"/>
        <c:axPos val="l"/>
        <c:majorGridlines>
          <c:spPr>
            <a:ln w="12700" cap="flat">
              <a:solidFill>
                <a:srgbClr val="D9D9D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0.002"/>
      </c:valAx>
      <c:spPr>
        <a:noFill/>
        <a:ln w="12700" cap="flat">
          <a:solidFill>
            <a:srgbClr val="D7CCA3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1400"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AE utility error</c:v>
                </c:pt>
              </c:strCache>
            </c:strRef>
          </c:tx>
          <c:spPr>
            <a:solidFill>
              <a:srgbClr val="E76F51"/>
            </a:solidFill>
            <a:ln w="38100" cap="flat">
              <a:solidFill>
                <a:srgbClr val="E76F5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76F51"/>
              </a:solidFill>
              <a:ln w="9525" cap="flat">
                <a:solidFill>
                  <a:srgbClr val="E76F5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8</c:v>
                  </c:pt>
                  <c:pt idx="1">
                    <c:v>16</c:v>
                  </c:pt>
                  <c:pt idx="2">
                    <c:v>32</c:v>
                  </c:pt>
                  <c:pt idx="3">
                    <c:v>64</c:v>
                  </c:pt>
                  <c:pt idx="4">
                    <c:v>128</c:v>
                  </c:pt>
                  <c:pt idx="5">
                    <c:v>256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0.019004938075952674</c:v>
                </c:pt>
                <c:pt idx="1">
                  <c:v>0.008393252515797037</c:v>
                </c:pt>
                <c:pt idx="2">
                  <c:v>0.004360717109478433</c:v>
                </c:pt>
                <c:pt idx="3">
                  <c:v>0.0025543767408286407</c:v>
                </c:pt>
                <c:pt idx="4">
                  <c:v>0.001364629172912648</c:v>
                </c:pt>
                <c:pt idx="5">
                  <c:v>0.0005791921469549254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MC utility error</c:v>
                </c:pt>
              </c:strCache>
            </c:strRef>
          </c:tx>
          <c:spPr>
            <a:solidFill>
              <a:srgbClr val="2A9D8F"/>
            </a:solidFill>
            <a:ln w="38100" cap="flat">
              <a:solidFill>
                <a:srgbClr val="2A9D8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A9D8F"/>
              </a:solidFill>
              <a:ln w="9525" cap="flat">
                <a:solidFill>
                  <a:srgbClr val="2A9D8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8</c:v>
                  </c:pt>
                  <c:pt idx="1">
                    <c:v>16</c:v>
                  </c:pt>
                  <c:pt idx="2">
                    <c:v>32</c:v>
                  </c:pt>
                  <c:pt idx="3">
                    <c:v>64</c:v>
                  </c:pt>
                  <c:pt idx="4">
                    <c:v>128</c:v>
                  </c:pt>
                  <c:pt idx="5">
                    <c:v>256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0.026586134632280007</c:v>
                </c:pt>
                <c:pt idx="1">
                  <c:v>0.019617371091127073</c:v>
                </c:pt>
                <c:pt idx="2">
                  <c:v>0.013657547652018825</c:v>
                </c:pt>
                <c:pt idx="3">
                  <c:v>0.009193473591935104</c:v>
                </c:pt>
                <c:pt idx="4">
                  <c:v>0.007583010844525865</c:v>
                </c:pt>
                <c:pt idx="5">
                  <c:v>0.004752968125578001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6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03"/>
          <c:min val="0"/>
        </c:scaling>
        <c:delete val="0"/>
        <c:axPos val="l"/>
        <c:majorGridlines>
          <c:spPr>
            <a:ln w="12700" cap="flat">
              <a:solidFill>
                <a:srgbClr val="D9D9D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0.005"/>
      </c:valAx>
      <c:spPr>
        <a:noFill/>
        <a:ln w="12700" cap="flat">
          <a:solidFill>
            <a:srgbClr val="D7CCA3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1400"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3" Type="http://schemas.openxmlformats.org/officeDocument/2006/relationships/chart" Target="/ppt/charts/chart2.xml"/><Relationship Id="rId1" Type="http://schemas.openxmlformats.org/officeDocument/2006/relationships/image" Target="../media/image-6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3.xml"/><Relationship Id="rId1" Type="http://schemas.openxmlformats.org/officeDocument/2006/relationships/image" Target="../media/image-8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82880"/>
            <a:ext cx="3063240" cy="128016"/>
          </a:xfrm>
          <a:prstGeom prst="rect">
            <a:avLst/>
          </a:prstGeom>
          <a:solidFill>
            <a:srgbClr val="F2EDA8"/>
          </a:solidFill>
          <a:ln w="12700">
            <a:solidFill>
              <a:srgbClr val="F2EDA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063240" y="182880"/>
            <a:ext cx="3063240" cy="128016"/>
          </a:xfrm>
          <a:prstGeom prst="rect">
            <a:avLst/>
          </a:prstGeom>
          <a:solidFill>
            <a:srgbClr val="FAE100"/>
          </a:solidFill>
          <a:ln w="12700">
            <a:solidFill>
              <a:srgbClr val="FAE100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126480" y="182880"/>
            <a:ext cx="3063240" cy="128016"/>
          </a:xfrm>
          <a:prstGeom prst="rect">
            <a:avLst/>
          </a:prstGeom>
          <a:solidFill>
            <a:srgbClr val="FED34C"/>
          </a:solidFill>
          <a:ln w="12700">
            <a:solidFill>
              <a:srgbClr val="FED34C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89720" y="182880"/>
            <a:ext cx="3001975" cy="128016"/>
          </a:xfrm>
          <a:prstGeom prst="rect">
            <a:avLst/>
          </a:prstGeom>
          <a:solidFill>
            <a:srgbClr val="EBAB00"/>
          </a:solidFill>
          <a:ln w="12700">
            <a:solidFill>
              <a:srgbClr val="EBAB00">
                <a:alpha val="0"/>
              </a:srgbClr>
            </a:solidFill>
            <a:prstDash val="solid"/>
          </a:ln>
        </p:spPr>
      </p:sp>
      <p:pic>
        <p:nvPicPr>
          <p:cNvPr id="7" name="Image 0" descr="C:\Users\szAsh\OneDrive\Desktop\UW\work\ECE752project\additive\slides\additive_report\assets\uw_word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1614" y="5623560"/>
            <a:ext cx="1430948" cy="56692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8229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Franklin Gothic Medium Cond" pitchFamily="34" charset="0"/>
                <a:ea typeface="Franklin Gothic Medium Cond" pitchFamily="34" charset="-122"/>
                <a:cs typeface="Franklin Gothic Medium Cond" pitchFamily="34" charset="-120"/>
              </a:rPr>
              <a:t>ADDITIVE PUBLIC OPINION SHAPING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566928" y="141732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i="1" dirty="0">
                <a:solidFill>
                  <a:srgbClr val="4D4D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Exact Quantum Encoding and Observable Estimation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585216" y="1965960"/>
            <a:ext cx="5120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deck isolates the additive mainline, the exact strategic encoding result, and the observable-estimation benchmark.</a:t>
            </a:r>
            <a:endParaRPr lang="en-US" sz="1900" dirty="0"/>
          </a:p>
        </p:txBody>
      </p:sp>
      <p:sp>
        <p:nvSpPr>
          <p:cNvPr id="11" name="Shape 8"/>
          <p:cNvSpPr/>
          <p:nvPr/>
        </p:nvSpPr>
        <p:spPr>
          <a:xfrm>
            <a:off x="6355080" y="1280160"/>
            <a:ext cx="1325880" cy="658368"/>
          </a:xfrm>
          <a:prstGeom prst="roundRect">
            <a:avLst>
              <a:gd name="adj" fmla="val 4167"/>
            </a:avLst>
          </a:prstGeom>
          <a:solidFill>
            <a:srgbClr val="F9F7EF"/>
          </a:solidFill>
          <a:ln w="12700">
            <a:solidFill>
              <a:srgbClr val="D7CCA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28232" y="1344168"/>
            <a:ext cx="11795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97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Actors</a:t>
            </a:r>
            <a:endParaRPr lang="en-US" sz="1497" dirty="0"/>
          </a:p>
        </p:txBody>
      </p:sp>
      <p:sp>
        <p:nvSpPr>
          <p:cNvPr id="13" name="Shape 10"/>
          <p:cNvSpPr/>
          <p:nvPr/>
        </p:nvSpPr>
        <p:spPr>
          <a:xfrm>
            <a:off x="8046720" y="1280160"/>
            <a:ext cx="1554480" cy="658368"/>
          </a:xfrm>
          <a:prstGeom prst="roundRect">
            <a:avLst>
              <a:gd name="adj" fmla="val 4167"/>
            </a:avLst>
          </a:prstGeom>
          <a:solidFill>
            <a:srgbClr val="FFF4C9"/>
          </a:solidFill>
          <a:ln w="12700">
            <a:solidFill>
              <a:srgbClr val="D7CCA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119872" y="1344168"/>
            <a:ext cx="14081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63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Mixed Narratives</a:t>
            </a:r>
            <a:endParaRPr lang="en-US" sz="1363" dirty="0"/>
          </a:p>
        </p:txBody>
      </p:sp>
      <p:sp>
        <p:nvSpPr>
          <p:cNvPr id="15" name="Shape 12"/>
          <p:cNvSpPr/>
          <p:nvPr/>
        </p:nvSpPr>
        <p:spPr>
          <a:xfrm>
            <a:off x="10012680" y="1280160"/>
            <a:ext cx="1371600" cy="658368"/>
          </a:xfrm>
          <a:prstGeom prst="roundRect">
            <a:avLst>
              <a:gd name="adj" fmla="val 4167"/>
            </a:avLst>
          </a:prstGeom>
          <a:solidFill>
            <a:srgbClr val="FFF8DE"/>
          </a:solidFill>
          <a:ln w="12700">
            <a:solidFill>
              <a:srgbClr val="D7CCA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0085832" y="1344168"/>
            <a:ext cx="12252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Observable Payoff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7735824" y="1609344"/>
            <a:ext cx="256032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8" name="Shape 15"/>
          <p:cNvSpPr/>
          <p:nvPr/>
        </p:nvSpPr>
        <p:spPr>
          <a:xfrm>
            <a:off x="9656064" y="1609344"/>
            <a:ext cx="301752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9" name="Shape 16"/>
          <p:cNvSpPr/>
          <p:nvPr/>
        </p:nvSpPr>
        <p:spPr>
          <a:xfrm>
            <a:off x="6291072" y="2331720"/>
            <a:ext cx="5074920" cy="1874520"/>
          </a:xfrm>
          <a:prstGeom prst="roundRect">
            <a:avLst>
              <a:gd name="adj" fmla="val 1951"/>
            </a:avLst>
          </a:prstGeom>
          <a:solidFill>
            <a:srgbClr val="FFFDF5"/>
          </a:solidFill>
          <a:ln w="12700">
            <a:solidFill>
              <a:srgbClr val="D7CCA3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291072" y="2331720"/>
            <a:ext cx="5074920" cy="73152"/>
          </a:xfrm>
          <a:prstGeom prst="rect">
            <a:avLst/>
          </a:prstGeom>
          <a:solidFill>
            <a:srgbClr val="BB0F33"/>
          </a:solidFill>
          <a:ln w="12700">
            <a:solidFill>
              <a:srgbClr val="BB0F33">
                <a:alpha val="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428232" y="2478024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Franklin Gothic Medium Cond" pitchFamily="34" charset="0"/>
                <a:ea typeface="Franklin Gothic Medium Cond" pitchFamily="34" charset="-122"/>
                <a:cs typeface="Franklin Gothic Medium Cond" pitchFamily="34" charset="-120"/>
              </a:rPr>
              <a:t>Core message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6428232" y="2862072"/>
            <a:ext cx="480060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59" dirty="0">
                <a:solidFill>
                  <a:srgbClr val="4D4D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the additive setting, quantum does not define a different game. It exactly encodes the classical ground truth and gives a cleaner route to observable-payoff estimation.</a:t>
            </a:r>
            <a:endParaRPr lang="en-US" sz="1559" dirty="0"/>
          </a:p>
        </p:txBody>
      </p:sp>
      <p:sp>
        <p:nvSpPr>
          <p:cNvPr id="23" name="Shape 20"/>
          <p:cNvSpPr/>
          <p:nvPr/>
        </p:nvSpPr>
        <p:spPr>
          <a:xfrm>
            <a:off x="6309360" y="4526280"/>
            <a:ext cx="5010912" cy="804672"/>
          </a:xfrm>
          <a:prstGeom prst="roundRect">
            <a:avLst>
              <a:gd name="adj" fmla="val 4545"/>
            </a:avLst>
          </a:prstGeom>
          <a:solidFill>
            <a:srgbClr val="FFF4C9"/>
          </a:solidFill>
          <a:ln w="12700">
            <a:solidFill>
              <a:srgbClr val="EBAB0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455664" y="4636008"/>
            <a:ext cx="471830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scope: additive GT, exact quantum encoding, residual MLP surrogate, and AE benchmark.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82880"/>
            <a:ext cx="3063240" cy="128016"/>
          </a:xfrm>
          <a:prstGeom prst="rect">
            <a:avLst/>
          </a:prstGeom>
          <a:solidFill>
            <a:srgbClr val="F2EDA8"/>
          </a:solidFill>
          <a:ln w="12700">
            <a:solidFill>
              <a:srgbClr val="F2EDA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063240" y="182880"/>
            <a:ext cx="3063240" cy="128016"/>
          </a:xfrm>
          <a:prstGeom prst="rect">
            <a:avLst/>
          </a:prstGeom>
          <a:solidFill>
            <a:srgbClr val="FAE100"/>
          </a:solidFill>
          <a:ln w="12700">
            <a:solidFill>
              <a:srgbClr val="FAE100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126480" y="182880"/>
            <a:ext cx="3063240" cy="128016"/>
          </a:xfrm>
          <a:prstGeom prst="rect">
            <a:avLst/>
          </a:prstGeom>
          <a:solidFill>
            <a:srgbClr val="FED34C"/>
          </a:solidFill>
          <a:ln w="12700">
            <a:solidFill>
              <a:srgbClr val="FED34C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89720" y="182880"/>
            <a:ext cx="3001975" cy="128016"/>
          </a:xfrm>
          <a:prstGeom prst="rect">
            <a:avLst/>
          </a:prstGeom>
          <a:solidFill>
            <a:srgbClr val="EBAB00"/>
          </a:solidFill>
          <a:ln w="12700">
            <a:solidFill>
              <a:srgbClr val="EBAB00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38404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Franklin Gothic Medium Cond" pitchFamily="34" charset="0"/>
                <a:ea typeface="Franklin Gothic Medium Cond" pitchFamily="34" charset="-122"/>
                <a:cs typeface="Franklin Gothic Medium Cond" pitchFamily="34" charset="-120"/>
              </a:rPr>
              <a:t>PROBLEM BACKGROUND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84048" y="822960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i="1" dirty="0">
                <a:solidFill>
                  <a:srgbClr val="4D4D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additive public-opinion shaping is the right reduction.</a:t>
            </a:r>
            <a:endParaRPr lang="en-US" sz="1320" dirty="0"/>
          </a:p>
        </p:txBody>
      </p:sp>
      <p:sp>
        <p:nvSpPr>
          <p:cNvPr id="9" name="Text 7"/>
          <p:cNvSpPr/>
          <p:nvPr/>
        </p:nvSpPr>
        <p:spPr>
          <a:xfrm>
            <a:off x="347472" y="6391656"/>
            <a:ext cx="3886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Additive Public Opinion Shaping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577840" y="6391656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 2</a:t>
            </a:r>
            <a:endParaRPr lang="en-US" sz="950" dirty="0"/>
          </a:p>
        </p:txBody>
      </p:sp>
      <p:pic>
        <p:nvPicPr>
          <p:cNvPr id="11" name="Image 0" descr="C:\Users\szAsh\OneDrive\Desktop\UW\work\ECE752project\additive\slides\additive_report\assets\uw_word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66326" y="6099048"/>
            <a:ext cx="1338629" cy="530352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6446520" y="1097280"/>
            <a:ext cx="5257800" cy="4389120"/>
          </a:xfrm>
          <a:prstGeom prst="roundRect">
            <a:avLst>
              <a:gd name="adj" fmla="val 625"/>
            </a:avLst>
          </a:prstGeom>
          <a:solidFill>
            <a:srgbClr val="FFFFFF"/>
          </a:solidFill>
          <a:ln w="12700">
            <a:solidFill>
              <a:srgbClr val="D7CCA3"/>
            </a:solidFill>
            <a:prstDash val="solid"/>
          </a:ln>
        </p:spPr>
      </p:sp>
      <p:pic>
        <p:nvPicPr>
          <p:cNvPr id="13" name="Image 1" descr="C:\Users\szAsh\OneDrive\Desktop\UW\work\ECE752project\additive\slides\additive_report\assets\public_opinion_backgroun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1888" y="1170432"/>
            <a:ext cx="5047064" cy="4242816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640080" y="1325880"/>
            <a:ext cx="73152" cy="73152"/>
          </a:xfrm>
          <a:prstGeom prst="rect">
            <a:avLst/>
          </a:prstGeom>
          <a:solidFill>
            <a:srgbClr val="EBAB00"/>
          </a:solidFill>
          <a:ln w="12700">
            <a:solidFill>
              <a:srgbClr val="EBAB00">
                <a:alpha val="0"/>
              </a:srgbClr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786384" y="1234440"/>
            <a:ext cx="5294376" cy="581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5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Multiple actors intervene in one shared opinion space rather than in isolated channels.</a:t>
            </a:r>
            <a:endParaRPr lang="en-US" sz="1850" dirty="0"/>
          </a:p>
        </p:txBody>
      </p:sp>
      <p:sp>
        <p:nvSpPr>
          <p:cNvPr id="16" name="Shape 12"/>
          <p:cNvSpPr/>
          <p:nvPr/>
        </p:nvSpPr>
        <p:spPr>
          <a:xfrm>
            <a:off x="640080" y="2016760"/>
            <a:ext cx="73152" cy="73152"/>
          </a:xfrm>
          <a:prstGeom prst="rect">
            <a:avLst/>
          </a:prstGeom>
          <a:solidFill>
            <a:srgbClr val="EBAB00"/>
          </a:solidFill>
          <a:ln w="12700">
            <a:solidFill>
              <a:srgbClr val="EBAB00">
                <a:alpha val="0"/>
              </a:srgbClr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786384" y="1925320"/>
            <a:ext cx="5294376" cy="581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5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Each coordinate represents a narrative axis such as economic framing, identity, or social value.</a:t>
            </a:r>
            <a:endParaRPr lang="en-US" sz="1850" dirty="0"/>
          </a:p>
        </p:txBody>
      </p:sp>
      <p:sp>
        <p:nvSpPr>
          <p:cNvPr id="18" name="Shape 14"/>
          <p:cNvSpPr/>
          <p:nvPr/>
        </p:nvSpPr>
        <p:spPr>
          <a:xfrm>
            <a:off x="640080" y="2707640"/>
            <a:ext cx="73152" cy="73152"/>
          </a:xfrm>
          <a:prstGeom prst="rect">
            <a:avLst/>
          </a:prstGeom>
          <a:solidFill>
            <a:srgbClr val="EBAB00"/>
          </a:solidFill>
          <a:ln w="12700">
            <a:solidFill>
              <a:srgbClr val="EBAB00">
                <a:alpha val="0"/>
              </a:srgbClr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786384" y="2616200"/>
            <a:ext cx="5294376" cy="844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5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Actors allocate influence across those coordinates, so strategy is a distributional decision, not a single move.</a:t>
            </a:r>
            <a:endParaRPr lang="en-US" sz="1850" dirty="0"/>
          </a:p>
        </p:txBody>
      </p:sp>
      <p:sp>
        <p:nvSpPr>
          <p:cNvPr id="20" name="Shape 16"/>
          <p:cNvSpPr/>
          <p:nvPr/>
        </p:nvSpPr>
        <p:spPr>
          <a:xfrm>
            <a:off x="640080" y="3661664"/>
            <a:ext cx="73152" cy="73152"/>
          </a:xfrm>
          <a:prstGeom prst="rect">
            <a:avLst/>
          </a:prstGeom>
          <a:solidFill>
            <a:srgbClr val="EBAB00"/>
          </a:solidFill>
          <a:ln w="12700">
            <a:solidFill>
              <a:srgbClr val="EBAB00">
                <a:alpha val="0"/>
              </a:srgbClr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786384" y="3570224"/>
            <a:ext cx="5294376" cy="844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5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Platform redistribution and audience cognition mix narratives across coordinates, which creates strategic coupling.</a:t>
            </a:r>
            <a:endParaRPr lang="en-US" sz="1850" dirty="0"/>
          </a:p>
        </p:txBody>
      </p:sp>
      <p:sp>
        <p:nvSpPr>
          <p:cNvPr id="22" name="Shape 18"/>
          <p:cNvSpPr/>
          <p:nvPr/>
        </p:nvSpPr>
        <p:spPr>
          <a:xfrm>
            <a:off x="676656" y="5047488"/>
            <a:ext cx="5394960" cy="530352"/>
          </a:xfrm>
          <a:prstGeom prst="roundRect">
            <a:avLst>
              <a:gd name="adj" fmla="val 6897"/>
            </a:avLst>
          </a:prstGeom>
          <a:solidFill>
            <a:srgbClr val="FFF8DE"/>
          </a:solidFill>
          <a:ln w="12700">
            <a:solidFill>
              <a:srgbClr val="BB0F33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822960" y="5157216"/>
            <a:ext cx="5102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Additive modeling makes this problem explicit: it turns shared narrative shaping into a state update plus a measurable strategic payoff.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82880"/>
            <a:ext cx="3063240" cy="128016"/>
          </a:xfrm>
          <a:prstGeom prst="rect">
            <a:avLst/>
          </a:prstGeom>
          <a:solidFill>
            <a:srgbClr val="F2EDA8"/>
          </a:solidFill>
          <a:ln w="12700">
            <a:solidFill>
              <a:srgbClr val="F2EDA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063240" y="182880"/>
            <a:ext cx="3063240" cy="128016"/>
          </a:xfrm>
          <a:prstGeom prst="rect">
            <a:avLst/>
          </a:prstGeom>
          <a:solidFill>
            <a:srgbClr val="FAE100"/>
          </a:solidFill>
          <a:ln w="12700">
            <a:solidFill>
              <a:srgbClr val="FAE100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126480" y="182880"/>
            <a:ext cx="3063240" cy="128016"/>
          </a:xfrm>
          <a:prstGeom prst="rect">
            <a:avLst/>
          </a:prstGeom>
          <a:solidFill>
            <a:srgbClr val="FED34C"/>
          </a:solidFill>
          <a:ln w="12700">
            <a:solidFill>
              <a:srgbClr val="FED34C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89720" y="182880"/>
            <a:ext cx="3001975" cy="128016"/>
          </a:xfrm>
          <a:prstGeom prst="rect">
            <a:avLst/>
          </a:prstGeom>
          <a:solidFill>
            <a:srgbClr val="EBAB00"/>
          </a:solidFill>
          <a:ln w="12700">
            <a:solidFill>
              <a:srgbClr val="EBAB00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38404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Franklin Gothic Medium Cond" pitchFamily="34" charset="0"/>
                <a:ea typeface="Franklin Gothic Medium Cond" pitchFamily="34" charset="-122"/>
                <a:cs typeface="Franklin Gothic Medium Cond" pitchFamily="34" charset="-120"/>
              </a:rPr>
              <a:t>ADDITIVE MAINLINE FORMULATION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84048" y="822960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i="1" dirty="0">
                <a:solidFill>
                  <a:srgbClr val="4D4D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models share one distribution-based scoring interface.</a:t>
            </a:r>
            <a:endParaRPr lang="en-US" sz="1320" dirty="0"/>
          </a:p>
        </p:txBody>
      </p:sp>
      <p:sp>
        <p:nvSpPr>
          <p:cNvPr id="9" name="Text 7"/>
          <p:cNvSpPr/>
          <p:nvPr/>
        </p:nvSpPr>
        <p:spPr>
          <a:xfrm>
            <a:off x="347472" y="6391656"/>
            <a:ext cx="3886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Additive Public Opinion Shaping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577840" y="6391656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 3</a:t>
            </a:r>
            <a:endParaRPr lang="en-US" sz="950" dirty="0"/>
          </a:p>
        </p:txBody>
      </p:sp>
      <p:pic>
        <p:nvPicPr>
          <p:cNvPr id="11" name="Image 0" descr="C:\Users\szAsh\OneDrive\Desktop\UW\work\ECE752project\additive\slides\additive_report\assets\uw_word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66326" y="6099048"/>
            <a:ext cx="1338629" cy="530352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594360" y="1115568"/>
            <a:ext cx="3566160" cy="1024128"/>
          </a:xfrm>
          <a:prstGeom prst="roundRect">
            <a:avLst>
              <a:gd name="adj" fmla="val 3571"/>
            </a:avLst>
          </a:prstGeom>
          <a:solidFill>
            <a:srgbClr val="FFFDF5"/>
          </a:solidFill>
          <a:ln w="12700">
            <a:solidFill>
              <a:srgbClr val="D7CCA3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94360" y="1115568"/>
            <a:ext cx="3566160" cy="7315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31520" y="1261872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Franklin Gothic Medium Cond" pitchFamily="34" charset="0"/>
                <a:ea typeface="Franklin Gothic Medium Cond" pitchFamily="34" charset="-122"/>
                <a:cs typeface="Franklin Gothic Medium Cond" pitchFamily="34" charset="-120"/>
              </a:rPr>
              <a:t>ClassicalGroundTruthGame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731520" y="164592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 additive dynamics with explicit mixing matrix M and agent-specific maps Bᵢ.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594360" y="2304288"/>
            <a:ext cx="3566160" cy="1024128"/>
          </a:xfrm>
          <a:prstGeom prst="roundRect">
            <a:avLst>
              <a:gd name="adj" fmla="val 3571"/>
            </a:avLst>
          </a:prstGeom>
          <a:solidFill>
            <a:srgbClr val="FFFDF5"/>
          </a:solidFill>
          <a:ln w="12700">
            <a:solidFill>
              <a:srgbClr val="D7CCA3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94360" y="2304288"/>
            <a:ext cx="3566160" cy="73152"/>
          </a:xfrm>
          <a:prstGeom prst="rect">
            <a:avLst/>
          </a:prstGeom>
          <a:solidFill>
            <a:srgbClr val="EBAB00"/>
          </a:solidFill>
          <a:ln w="12700">
            <a:solidFill>
              <a:srgbClr val="EBAB00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31520" y="2450592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Franklin Gothic Medium Cond" pitchFamily="34" charset="0"/>
                <a:ea typeface="Franklin Gothic Medium Cond" pitchFamily="34" charset="-122"/>
                <a:cs typeface="Franklin Gothic Medium Cond" pitchFamily="34" charset="-120"/>
              </a:rPr>
              <a:t>QuantumEncodedGame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731520" y="283464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Exact encoding of the same additive game in a quantum-style latent state.</a:t>
            </a:r>
            <a:endParaRPr lang="en-US" sz="1450" dirty="0"/>
          </a:p>
        </p:txBody>
      </p:sp>
      <p:sp>
        <p:nvSpPr>
          <p:cNvPr id="20" name="Shape 17"/>
          <p:cNvSpPr/>
          <p:nvPr/>
        </p:nvSpPr>
        <p:spPr>
          <a:xfrm>
            <a:off x="594360" y="3493008"/>
            <a:ext cx="3566160" cy="1024128"/>
          </a:xfrm>
          <a:prstGeom prst="roundRect">
            <a:avLst>
              <a:gd name="adj" fmla="val 3571"/>
            </a:avLst>
          </a:prstGeom>
          <a:solidFill>
            <a:srgbClr val="FFFDF5"/>
          </a:solidFill>
          <a:ln w="12700">
            <a:solidFill>
              <a:srgbClr val="D7CCA3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94360" y="3493008"/>
            <a:ext cx="3566160" cy="73152"/>
          </a:xfrm>
          <a:prstGeom prst="rect">
            <a:avLst/>
          </a:prstGeom>
          <a:solidFill>
            <a:srgbClr val="BB0F33"/>
          </a:solidFill>
          <a:ln w="12700">
            <a:solidFill>
              <a:srgbClr val="BB0F33">
                <a:alpha val="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31520" y="3639312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Franklin Gothic Medium Cond" pitchFamily="34" charset="0"/>
                <a:ea typeface="Franklin Gothic Medium Cond" pitchFamily="34" charset="-122"/>
                <a:cs typeface="Franklin Gothic Medium Cond" pitchFamily="34" charset="-120"/>
              </a:rPr>
              <a:t>ResidualMLPSurrogate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731520" y="402336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Learned classical surrogate from joint actions to terminal influence distributions.</a:t>
            </a:r>
            <a:endParaRPr lang="en-US" sz="1450" dirty="0"/>
          </a:p>
        </p:txBody>
      </p:sp>
      <p:sp>
        <p:nvSpPr>
          <p:cNvPr id="24" name="Shape 21"/>
          <p:cNvSpPr/>
          <p:nvPr/>
        </p:nvSpPr>
        <p:spPr>
          <a:xfrm>
            <a:off x="4572000" y="1115568"/>
            <a:ext cx="6995160" cy="1234440"/>
          </a:xfrm>
          <a:prstGeom prst="roundRect">
            <a:avLst>
              <a:gd name="adj" fmla="val 2963"/>
            </a:avLst>
          </a:prstGeom>
          <a:solidFill>
            <a:srgbClr val="FFFDF5"/>
          </a:solidFill>
          <a:ln w="12700">
            <a:solidFill>
              <a:srgbClr val="D7CCA3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4572000" y="1115568"/>
            <a:ext cx="6995160" cy="7315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718304" y="1243584"/>
            <a:ext cx="6702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Franklin Gothic Medium Cond" pitchFamily="34" charset="0"/>
                <a:ea typeface="Franklin Gothic Medium Cond" pitchFamily="34" charset="-122"/>
                <a:cs typeface="Franklin Gothic Medium Cond" pitchFamily="34" charset="-120"/>
              </a:rPr>
              <a:t>Additive ground-truth dynamics</a:t>
            </a:r>
            <a:endParaRPr lang="en-US" sz="1700" dirty="0"/>
          </a:p>
        </p:txBody>
      </p:sp>
      <p:pic>
        <p:nvPicPr>
          <p:cNvPr id="27" name="Image 1" descr="C:\Users\szAsh\OneDrive\Desktop\UW\work\ECE752project\additive\slides\additive_report\assets\formula_state_upda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5864" y="1517904"/>
            <a:ext cx="5827431" cy="758952"/>
          </a:xfrm>
          <a:prstGeom prst="rect">
            <a:avLst/>
          </a:prstGeom>
        </p:spPr>
      </p:pic>
      <p:sp>
        <p:nvSpPr>
          <p:cNvPr id="28" name="Shape 24"/>
          <p:cNvSpPr/>
          <p:nvPr/>
        </p:nvSpPr>
        <p:spPr>
          <a:xfrm>
            <a:off x="4572000" y="2523744"/>
            <a:ext cx="6995160" cy="1234440"/>
          </a:xfrm>
          <a:prstGeom prst="roundRect">
            <a:avLst>
              <a:gd name="adj" fmla="val 2963"/>
            </a:avLst>
          </a:prstGeom>
          <a:solidFill>
            <a:srgbClr val="FFFDF5"/>
          </a:solidFill>
          <a:ln w="12700">
            <a:solidFill>
              <a:srgbClr val="D7CCA3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4572000" y="2523744"/>
            <a:ext cx="6995160" cy="73152"/>
          </a:xfrm>
          <a:prstGeom prst="rect">
            <a:avLst/>
          </a:prstGeom>
          <a:solidFill>
            <a:srgbClr val="EBAB00"/>
          </a:solidFill>
          <a:ln w="12700">
            <a:solidFill>
              <a:srgbClr val="EBAB00">
                <a:alpha val="0"/>
              </a:srgbClr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4718304" y="2651760"/>
            <a:ext cx="6702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Franklin Gothic Medium Cond" pitchFamily="34" charset="0"/>
                <a:ea typeface="Franklin Gothic Medium Cond" pitchFamily="34" charset="-122"/>
                <a:cs typeface="Franklin Gothic Medium Cond" pitchFamily="34" charset="-120"/>
              </a:rPr>
              <a:t>Observable-based payoff</a:t>
            </a:r>
            <a:endParaRPr lang="en-US" sz="1700" dirty="0"/>
          </a:p>
        </p:txBody>
      </p:sp>
      <p:pic>
        <p:nvPicPr>
          <p:cNvPr id="31" name="Image 2" descr="C:\Users\szAsh\OneDrive\Desktop\UW\work\ECE752project\additive\slides\additive_report\assets\formula_payo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8256" y="2926080"/>
            <a:ext cx="6042648" cy="758952"/>
          </a:xfrm>
          <a:prstGeom prst="rect">
            <a:avLst/>
          </a:prstGeom>
        </p:spPr>
      </p:pic>
      <p:sp>
        <p:nvSpPr>
          <p:cNvPr id="32" name="Shape 27"/>
          <p:cNvSpPr/>
          <p:nvPr/>
        </p:nvSpPr>
        <p:spPr>
          <a:xfrm>
            <a:off x="4645152" y="4096512"/>
            <a:ext cx="6839712" cy="822960"/>
          </a:xfrm>
          <a:prstGeom prst="roundRect">
            <a:avLst>
              <a:gd name="adj" fmla="val 4444"/>
            </a:avLst>
          </a:prstGeom>
          <a:solidFill>
            <a:srgbClr val="FFF4C9"/>
          </a:solidFill>
          <a:ln w="12700">
            <a:solidFill>
              <a:srgbClr val="EBAB00"/>
            </a:solidFill>
            <a:prstDash val="solid"/>
          </a:ln>
        </p:spPr>
      </p:sp>
      <p:sp>
        <p:nvSpPr>
          <p:cNvPr id="33" name="Text 28"/>
          <p:cNvSpPr/>
          <p:nvPr/>
        </p:nvSpPr>
        <p:spPr>
          <a:xfrm>
            <a:off x="4791456" y="4206240"/>
            <a:ext cx="65471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entmax-1.5 is sharper than softmax, permits sparse attention patterns, and avoids an overly smooth surrogate target.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82880"/>
            <a:ext cx="3063240" cy="128016"/>
          </a:xfrm>
          <a:prstGeom prst="rect">
            <a:avLst/>
          </a:prstGeom>
          <a:solidFill>
            <a:srgbClr val="F2EDA8"/>
          </a:solidFill>
          <a:ln w="12700">
            <a:solidFill>
              <a:srgbClr val="F2EDA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063240" y="182880"/>
            <a:ext cx="3063240" cy="128016"/>
          </a:xfrm>
          <a:prstGeom prst="rect">
            <a:avLst/>
          </a:prstGeom>
          <a:solidFill>
            <a:srgbClr val="FAE100"/>
          </a:solidFill>
          <a:ln w="12700">
            <a:solidFill>
              <a:srgbClr val="FAE100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126480" y="182880"/>
            <a:ext cx="3063240" cy="128016"/>
          </a:xfrm>
          <a:prstGeom prst="rect">
            <a:avLst/>
          </a:prstGeom>
          <a:solidFill>
            <a:srgbClr val="FED34C"/>
          </a:solidFill>
          <a:ln w="12700">
            <a:solidFill>
              <a:srgbClr val="FED34C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89720" y="182880"/>
            <a:ext cx="3001975" cy="128016"/>
          </a:xfrm>
          <a:prstGeom prst="rect">
            <a:avLst/>
          </a:prstGeom>
          <a:solidFill>
            <a:srgbClr val="EBAB00"/>
          </a:solidFill>
          <a:ln w="12700">
            <a:solidFill>
              <a:srgbClr val="EBAB00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38404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Franklin Gothic Medium Cond" pitchFamily="34" charset="0"/>
                <a:ea typeface="Franklin Gothic Medium Cond" pitchFamily="34" charset="-122"/>
                <a:cs typeface="Franklin Gothic Medium Cond" pitchFamily="34" charset="-120"/>
              </a:rPr>
              <a:t>RIGOROUS STATEMENT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84048" y="822960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i="1" dirty="0">
                <a:solidFill>
                  <a:srgbClr val="4D4D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exact quantum encoding does and does not claim.</a:t>
            </a:r>
            <a:endParaRPr lang="en-US" sz="1320" dirty="0"/>
          </a:p>
        </p:txBody>
      </p:sp>
      <p:sp>
        <p:nvSpPr>
          <p:cNvPr id="9" name="Text 7"/>
          <p:cNvSpPr/>
          <p:nvPr/>
        </p:nvSpPr>
        <p:spPr>
          <a:xfrm>
            <a:off x="347472" y="6391656"/>
            <a:ext cx="3886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Additive Public Opinion Shaping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577840" y="6391656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 4</a:t>
            </a:r>
            <a:endParaRPr lang="en-US" sz="950" dirty="0"/>
          </a:p>
        </p:txBody>
      </p:sp>
      <p:pic>
        <p:nvPicPr>
          <p:cNvPr id="11" name="Image 0" descr="C:\Users\szAsh\OneDrive\Desktop\UW\work\ECE752project\additive\slides\additive_report\assets\uw_word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66326" y="6099048"/>
            <a:ext cx="1338629" cy="530352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658368" y="1115568"/>
            <a:ext cx="10881360" cy="1417320"/>
          </a:xfrm>
          <a:prstGeom prst="roundRect">
            <a:avLst>
              <a:gd name="adj" fmla="val 2581"/>
            </a:avLst>
          </a:prstGeom>
          <a:solidFill>
            <a:srgbClr val="FFFDF5"/>
          </a:solidFill>
          <a:ln w="12700">
            <a:solidFill>
              <a:srgbClr val="D7CCA3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58368" y="1115568"/>
            <a:ext cx="10881360" cy="73152"/>
          </a:xfrm>
          <a:prstGeom prst="rect">
            <a:avLst/>
          </a:prstGeom>
          <a:solidFill>
            <a:srgbClr val="BB0F33"/>
          </a:solidFill>
          <a:ln w="12700">
            <a:solidFill>
              <a:srgbClr val="BB0F33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95528" y="1261872"/>
            <a:ext cx="10607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Franklin Gothic Medium Cond" pitchFamily="34" charset="0"/>
                <a:ea typeface="Franklin Gothic Medium Cond" pitchFamily="34" charset="-122"/>
                <a:cs typeface="Franklin Gothic Medium Cond" pitchFamily="34" charset="-120"/>
              </a:rPr>
              <a:t>Exact statement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795528" y="1645920"/>
            <a:ext cx="1060704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4D4D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every feasible joint action a, the additive QuantumEncodedGame induces the same terminal influence distribution as the ClassicalGroundTruthGame. Therefore, best responses, regret, and epsilon-equilibrium properties coincide, up to amplitude-estimation discretization error when utilities are evaluated via observable expectations.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1005840" y="3017520"/>
            <a:ext cx="1417320" cy="749808"/>
          </a:xfrm>
          <a:prstGeom prst="roundRect">
            <a:avLst>
              <a:gd name="adj" fmla="val 3659"/>
            </a:avLst>
          </a:prstGeom>
          <a:solidFill>
            <a:srgbClr val="FFF4C9"/>
          </a:solidFill>
          <a:ln w="12700">
            <a:solidFill>
              <a:srgbClr val="D7CCA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078992" y="3081528"/>
            <a:ext cx="127101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97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pₜ</a:t>
            </a:r>
            <a:endParaRPr lang="en-US" sz="1797" dirty="0"/>
          </a:p>
        </p:txBody>
      </p:sp>
      <p:sp>
        <p:nvSpPr>
          <p:cNvPr id="18" name="Shape 15"/>
          <p:cNvSpPr/>
          <p:nvPr/>
        </p:nvSpPr>
        <p:spPr>
          <a:xfrm>
            <a:off x="2880360" y="3017520"/>
            <a:ext cx="2148840" cy="749808"/>
          </a:xfrm>
          <a:prstGeom prst="roundRect">
            <a:avLst>
              <a:gd name="adj" fmla="val 3659"/>
            </a:avLst>
          </a:prstGeom>
          <a:solidFill>
            <a:srgbClr val="F9F7EF"/>
          </a:solidFill>
          <a:ln w="12700">
            <a:solidFill>
              <a:srgbClr val="D7CCA3"/>
            </a:solidFill>
            <a:prstDash val="solid"/>
          </a:ln>
        </p:spPr>
      </p:sp>
      <p:pic>
        <p:nvPicPr>
          <p:cNvPr id="19" name="Image 1" descr="C:\Users\szAsh\OneDrive\Desktop\UW\work\ECE752project\additive\slides\additive_report\assets\formula_mapp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2656" y="3212791"/>
            <a:ext cx="1984248" cy="340978"/>
          </a:xfrm>
          <a:prstGeom prst="rect">
            <a:avLst/>
          </a:prstGeom>
        </p:spPr>
      </p:pic>
      <p:sp>
        <p:nvSpPr>
          <p:cNvPr id="20" name="Shape 16"/>
          <p:cNvSpPr/>
          <p:nvPr/>
        </p:nvSpPr>
        <p:spPr>
          <a:xfrm>
            <a:off x="5486400" y="3017520"/>
            <a:ext cx="2240280" cy="749808"/>
          </a:xfrm>
          <a:prstGeom prst="roundRect">
            <a:avLst>
              <a:gd name="adj" fmla="val 3659"/>
            </a:avLst>
          </a:prstGeom>
          <a:solidFill>
            <a:srgbClr val="FFF8DE"/>
          </a:solidFill>
          <a:ln w="12700">
            <a:solidFill>
              <a:srgbClr val="D7CCA3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5559552" y="3081528"/>
            <a:ext cx="209397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3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Exact additive update preserved</a:t>
            </a:r>
            <a:endParaRPr lang="en-US" sz="1123" dirty="0"/>
          </a:p>
        </p:txBody>
      </p:sp>
      <p:sp>
        <p:nvSpPr>
          <p:cNvPr id="22" name="Shape 18"/>
          <p:cNvSpPr/>
          <p:nvPr/>
        </p:nvSpPr>
        <p:spPr>
          <a:xfrm>
            <a:off x="8229600" y="3017520"/>
            <a:ext cx="2468880" cy="749808"/>
          </a:xfrm>
          <a:prstGeom prst="roundRect">
            <a:avLst>
              <a:gd name="adj" fmla="val 3659"/>
            </a:avLst>
          </a:prstGeom>
          <a:solidFill>
            <a:srgbClr val="FFF4C9"/>
          </a:solidFill>
          <a:ln w="12700">
            <a:solidFill>
              <a:srgbClr val="D7CCA3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8302752" y="3081528"/>
            <a:ext cx="232257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3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Observable payoff from encoded state</a:t>
            </a:r>
            <a:endParaRPr lang="en-US" sz="1123" dirty="0"/>
          </a:p>
        </p:txBody>
      </p:sp>
      <p:sp>
        <p:nvSpPr>
          <p:cNvPr id="24" name="Shape 20"/>
          <p:cNvSpPr/>
          <p:nvPr/>
        </p:nvSpPr>
        <p:spPr>
          <a:xfrm>
            <a:off x="2487168" y="3392424"/>
            <a:ext cx="310896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25" name="Shape 21"/>
          <p:cNvSpPr/>
          <p:nvPr/>
        </p:nvSpPr>
        <p:spPr>
          <a:xfrm>
            <a:off x="5093208" y="3392424"/>
            <a:ext cx="32004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26" name="Shape 22"/>
          <p:cNvSpPr/>
          <p:nvPr/>
        </p:nvSpPr>
        <p:spPr>
          <a:xfrm>
            <a:off x="7772400" y="3392424"/>
            <a:ext cx="384048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27" name="Shape 23"/>
          <p:cNvSpPr/>
          <p:nvPr/>
        </p:nvSpPr>
        <p:spPr>
          <a:xfrm>
            <a:off x="960120" y="4251960"/>
            <a:ext cx="9738360" cy="749808"/>
          </a:xfrm>
          <a:prstGeom prst="roundRect">
            <a:avLst>
              <a:gd name="adj" fmla="val 4878"/>
            </a:avLst>
          </a:prstGeom>
          <a:solidFill>
            <a:srgbClr val="FFF8DE"/>
          </a:solidFill>
          <a:ln w="12700">
            <a:solidFill>
              <a:srgbClr val="BB0F33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1106424" y="4361688"/>
            <a:ext cx="94457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is an exact strategic encoding result. It shows model equivalence at the distribution level. It does not, by itself, establish end-to-end wall-clock quantum speedup.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82880"/>
            <a:ext cx="3063240" cy="128016"/>
          </a:xfrm>
          <a:prstGeom prst="rect">
            <a:avLst/>
          </a:prstGeom>
          <a:solidFill>
            <a:srgbClr val="F2EDA8"/>
          </a:solidFill>
          <a:ln w="12700">
            <a:solidFill>
              <a:srgbClr val="F2EDA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063240" y="182880"/>
            <a:ext cx="3063240" cy="128016"/>
          </a:xfrm>
          <a:prstGeom prst="rect">
            <a:avLst/>
          </a:prstGeom>
          <a:solidFill>
            <a:srgbClr val="FAE100"/>
          </a:solidFill>
          <a:ln w="12700">
            <a:solidFill>
              <a:srgbClr val="FAE100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126480" y="182880"/>
            <a:ext cx="3063240" cy="128016"/>
          </a:xfrm>
          <a:prstGeom prst="rect">
            <a:avLst/>
          </a:prstGeom>
          <a:solidFill>
            <a:srgbClr val="FED34C"/>
          </a:solidFill>
          <a:ln w="12700">
            <a:solidFill>
              <a:srgbClr val="FED34C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89720" y="182880"/>
            <a:ext cx="3001975" cy="128016"/>
          </a:xfrm>
          <a:prstGeom prst="rect">
            <a:avLst/>
          </a:prstGeom>
          <a:solidFill>
            <a:srgbClr val="EBAB00"/>
          </a:solidFill>
          <a:ln w="12700">
            <a:solidFill>
              <a:srgbClr val="EBAB00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38404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Franklin Gothic Medium Cond" pitchFamily="34" charset="0"/>
                <a:ea typeface="Franklin Gothic Medium Cond" pitchFamily="34" charset="-122"/>
                <a:cs typeface="Franklin Gothic Medium Cond" pitchFamily="34" charset="-120"/>
              </a:rPr>
              <a:t>EXPERIMENTAL SETUP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84048" y="822960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i="1" dirty="0">
                <a:solidFill>
                  <a:srgbClr val="4D4D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 headline metrics are judged against the additive classical ground truth.</a:t>
            </a:r>
            <a:endParaRPr lang="en-US" sz="1320" dirty="0"/>
          </a:p>
        </p:txBody>
      </p:sp>
      <p:sp>
        <p:nvSpPr>
          <p:cNvPr id="9" name="Text 7"/>
          <p:cNvSpPr/>
          <p:nvPr/>
        </p:nvSpPr>
        <p:spPr>
          <a:xfrm>
            <a:off x="347472" y="6391656"/>
            <a:ext cx="3886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Additive Public Opinion Shaping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577840" y="6391656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 5</a:t>
            </a:r>
            <a:endParaRPr lang="en-US" sz="950" dirty="0"/>
          </a:p>
        </p:txBody>
      </p:sp>
      <p:pic>
        <p:nvPicPr>
          <p:cNvPr id="11" name="Image 0" descr="C:\Users\szAsh\OneDrive\Desktop\UW\work\ECE752project\additive\slides\additive_report\assets\uw_word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66326" y="6099048"/>
            <a:ext cx="1338629" cy="530352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713232" y="1170432"/>
            <a:ext cx="3337560" cy="987552"/>
          </a:xfrm>
          <a:prstGeom prst="roundRect">
            <a:avLst>
              <a:gd name="adj" fmla="val 3704"/>
            </a:avLst>
          </a:prstGeom>
          <a:solidFill>
            <a:srgbClr val="FFFDF5"/>
          </a:solidFill>
          <a:ln w="12700">
            <a:solidFill>
              <a:srgbClr val="D7CCA3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13232" y="1170432"/>
            <a:ext cx="3337560" cy="7315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50392" y="1316736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Franklin Gothic Medium Cond" pitchFamily="34" charset="0"/>
                <a:ea typeface="Franklin Gothic Medium Cond" pitchFamily="34" charset="-122"/>
                <a:cs typeface="Franklin Gothic Medium Cond" pitchFamily="34" charset="-120"/>
              </a:rPr>
              <a:t>Scenarios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850392" y="1700784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additive scenarios: shallow, medium, and deep conflict.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4425696" y="1170432"/>
            <a:ext cx="3337560" cy="987552"/>
          </a:xfrm>
          <a:prstGeom prst="roundRect">
            <a:avLst>
              <a:gd name="adj" fmla="val 3704"/>
            </a:avLst>
          </a:prstGeom>
          <a:solidFill>
            <a:srgbClr val="FFFDF5"/>
          </a:solidFill>
          <a:ln w="12700">
            <a:solidFill>
              <a:srgbClr val="D7CCA3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425696" y="1170432"/>
            <a:ext cx="3337560" cy="73152"/>
          </a:xfrm>
          <a:prstGeom prst="rect">
            <a:avLst/>
          </a:prstGeom>
          <a:solidFill>
            <a:srgbClr val="EBAB00"/>
          </a:solidFill>
          <a:ln w="12700">
            <a:solidFill>
              <a:srgbClr val="EBAB00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562856" y="1316736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Franklin Gothic Medium Cond" pitchFamily="34" charset="0"/>
                <a:ea typeface="Franklin Gothic Medium Cond" pitchFamily="34" charset="-122"/>
                <a:cs typeface="Franklin Gothic Medium Cond" pitchFamily="34" charset="-120"/>
              </a:rPr>
              <a:t>Headline metrics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4562856" y="1700784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Accuracy, Regret, and Epsilon are all checked against additive GT.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8138160" y="1170432"/>
            <a:ext cx="3337560" cy="987552"/>
          </a:xfrm>
          <a:prstGeom prst="roundRect">
            <a:avLst>
              <a:gd name="adj" fmla="val 3704"/>
            </a:avLst>
          </a:prstGeom>
          <a:solidFill>
            <a:srgbClr val="FFFDF5"/>
          </a:solidFill>
          <a:ln w="12700">
            <a:solidFill>
              <a:srgbClr val="D7CCA3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8138160" y="1170432"/>
            <a:ext cx="3337560" cy="73152"/>
          </a:xfrm>
          <a:prstGeom prst="rect">
            <a:avLst/>
          </a:prstGeom>
          <a:solidFill>
            <a:srgbClr val="BB0F33"/>
          </a:solidFill>
          <a:ln w="12700">
            <a:solidFill>
              <a:srgbClr val="BB0F33">
                <a:alpha val="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275320" y="1316736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Franklin Gothic Medium Cond" pitchFamily="34" charset="0"/>
                <a:ea typeface="Franklin Gothic Medium Cond" pitchFamily="34" charset="-122"/>
                <a:cs typeface="Franklin Gothic Medium Cond" pitchFamily="34" charset="-120"/>
              </a:rPr>
              <a:t>Estimation benchmark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8275320" y="1700784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 is compared to Monte Carlo on observable-payoff estimation at equal query budgets.</a:t>
            </a:r>
            <a:endParaRPr lang="en-US" sz="1500" dirty="0"/>
          </a:p>
        </p:txBody>
      </p:sp>
      <p:sp>
        <p:nvSpPr>
          <p:cNvPr id="24" name="Shape 21"/>
          <p:cNvSpPr/>
          <p:nvPr/>
        </p:nvSpPr>
        <p:spPr>
          <a:xfrm>
            <a:off x="1051560" y="2743200"/>
            <a:ext cx="1783080" cy="749808"/>
          </a:xfrm>
          <a:prstGeom prst="roundRect">
            <a:avLst>
              <a:gd name="adj" fmla="val 3659"/>
            </a:avLst>
          </a:prstGeom>
          <a:solidFill>
            <a:srgbClr val="FFF4C9"/>
          </a:solidFill>
          <a:ln w="12700">
            <a:solidFill>
              <a:srgbClr val="D7CCA3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124712" y="2807208"/>
            <a:ext cx="163677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96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 Truth</a:t>
            </a:r>
            <a:endParaRPr lang="en-US" sz="1596" dirty="0"/>
          </a:p>
        </p:txBody>
      </p:sp>
      <p:sp>
        <p:nvSpPr>
          <p:cNvPr id="26" name="Shape 23"/>
          <p:cNvSpPr/>
          <p:nvPr/>
        </p:nvSpPr>
        <p:spPr>
          <a:xfrm>
            <a:off x="3246120" y="2743200"/>
            <a:ext cx="2011680" cy="749808"/>
          </a:xfrm>
          <a:prstGeom prst="roundRect">
            <a:avLst>
              <a:gd name="adj" fmla="val 3659"/>
            </a:avLst>
          </a:prstGeom>
          <a:solidFill>
            <a:srgbClr val="F9F7EF"/>
          </a:solidFill>
          <a:ln w="12700">
            <a:solidFill>
              <a:srgbClr val="D7CCA3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319272" y="2807208"/>
            <a:ext cx="186537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96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Quantum Encoded</a:t>
            </a:r>
            <a:endParaRPr lang="en-US" sz="1596" dirty="0"/>
          </a:p>
        </p:txBody>
      </p:sp>
      <p:sp>
        <p:nvSpPr>
          <p:cNvPr id="28" name="Shape 25"/>
          <p:cNvSpPr/>
          <p:nvPr/>
        </p:nvSpPr>
        <p:spPr>
          <a:xfrm>
            <a:off x="5669280" y="2743200"/>
            <a:ext cx="1828800" cy="749808"/>
          </a:xfrm>
          <a:prstGeom prst="roundRect">
            <a:avLst>
              <a:gd name="adj" fmla="val 3659"/>
            </a:avLst>
          </a:prstGeom>
          <a:solidFill>
            <a:srgbClr val="FFF8DE"/>
          </a:solidFill>
          <a:ln w="12700">
            <a:solidFill>
              <a:srgbClr val="D7CCA3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742432" y="2807208"/>
            <a:ext cx="168249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96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Residual MLP</a:t>
            </a:r>
            <a:endParaRPr lang="en-US" sz="1596" dirty="0"/>
          </a:p>
        </p:txBody>
      </p:sp>
      <p:sp>
        <p:nvSpPr>
          <p:cNvPr id="30" name="Shape 27"/>
          <p:cNvSpPr/>
          <p:nvPr/>
        </p:nvSpPr>
        <p:spPr>
          <a:xfrm>
            <a:off x="7909560" y="2743200"/>
            <a:ext cx="2743200" cy="749808"/>
          </a:xfrm>
          <a:prstGeom prst="roundRect">
            <a:avLst>
              <a:gd name="adj" fmla="val 3659"/>
            </a:avLst>
          </a:prstGeom>
          <a:solidFill>
            <a:srgbClr val="FFF4C9"/>
          </a:solidFill>
          <a:ln w="12700">
            <a:solidFill>
              <a:srgbClr val="D7CCA3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982712" y="2807208"/>
            <a:ext cx="259689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79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 under GT reference</a:t>
            </a:r>
            <a:endParaRPr lang="en-US" sz="1479" dirty="0"/>
          </a:p>
        </p:txBody>
      </p:sp>
      <p:sp>
        <p:nvSpPr>
          <p:cNvPr id="32" name="Shape 29"/>
          <p:cNvSpPr/>
          <p:nvPr/>
        </p:nvSpPr>
        <p:spPr>
          <a:xfrm>
            <a:off x="2907792" y="3118104"/>
            <a:ext cx="265176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33" name="Shape 30"/>
          <p:cNvSpPr/>
          <p:nvPr/>
        </p:nvSpPr>
        <p:spPr>
          <a:xfrm>
            <a:off x="5340096" y="3118104"/>
            <a:ext cx="256032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34" name="Shape 31"/>
          <p:cNvSpPr/>
          <p:nvPr/>
        </p:nvSpPr>
        <p:spPr>
          <a:xfrm>
            <a:off x="7571232" y="3118104"/>
            <a:ext cx="265176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35" name="Shape 32"/>
          <p:cNvSpPr/>
          <p:nvPr/>
        </p:nvSpPr>
        <p:spPr>
          <a:xfrm>
            <a:off x="841248" y="4023360"/>
            <a:ext cx="73152" cy="73152"/>
          </a:xfrm>
          <a:prstGeom prst="rect">
            <a:avLst/>
          </a:prstGeom>
          <a:solidFill>
            <a:srgbClr val="EBAB00"/>
          </a:solidFill>
          <a:ln w="12700">
            <a:solidFill>
              <a:srgbClr val="EBAB00">
                <a:alpha val="0"/>
              </a:srgbClr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987552" y="3931920"/>
            <a:ext cx="101406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Accuracy: whether the approximate model selects the same best-response candidate as the ground truth.</a:t>
            </a:r>
            <a:endParaRPr lang="en-US" sz="1800" dirty="0"/>
          </a:p>
        </p:txBody>
      </p:sp>
      <p:sp>
        <p:nvSpPr>
          <p:cNvPr id="37" name="Shape 34"/>
          <p:cNvSpPr/>
          <p:nvPr/>
        </p:nvSpPr>
        <p:spPr>
          <a:xfrm>
            <a:off x="841248" y="4700016"/>
            <a:ext cx="73152" cy="73152"/>
          </a:xfrm>
          <a:prstGeom prst="rect">
            <a:avLst/>
          </a:prstGeom>
          <a:solidFill>
            <a:srgbClr val="EBAB00"/>
          </a:solidFill>
          <a:ln w="12700">
            <a:solidFill>
              <a:srgbClr val="EBAB00">
                <a:alpha val="0"/>
              </a:srgbClr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987552" y="4608576"/>
            <a:ext cx="101406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Regret: exact improvement still available in the ground-truth game after following the candidate recommendation.</a:t>
            </a:r>
            <a:endParaRPr lang="en-US" sz="1800" dirty="0"/>
          </a:p>
        </p:txBody>
      </p:sp>
      <p:sp>
        <p:nvSpPr>
          <p:cNvPr id="39" name="Shape 36"/>
          <p:cNvSpPr/>
          <p:nvPr/>
        </p:nvSpPr>
        <p:spPr>
          <a:xfrm>
            <a:off x="841248" y="5376672"/>
            <a:ext cx="73152" cy="73152"/>
          </a:xfrm>
          <a:prstGeom prst="rect">
            <a:avLst/>
          </a:prstGeom>
          <a:solidFill>
            <a:srgbClr val="EBAB00"/>
          </a:solidFill>
          <a:ln w="12700">
            <a:solidFill>
              <a:srgbClr val="EBAB00">
                <a:alpha val="0"/>
              </a:srgbClr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987552" y="5285232"/>
            <a:ext cx="10140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Epsilon: epsilon-Nash slack of the candidate equilibrium when it is checked in the ground-truth game.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82880"/>
            <a:ext cx="3063240" cy="128016"/>
          </a:xfrm>
          <a:prstGeom prst="rect">
            <a:avLst/>
          </a:prstGeom>
          <a:solidFill>
            <a:srgbClr val="F2EDA8"/>
          </a:solidFill>
          <a:ln w="12700">
            <a:solidFill>
              <a:srgbClr val="F2EDA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063240" y="182880"/>
            <a:ext cx="3063240" cy="128016"/>
          </a:xfrm>
          <a:prstGeom prst="rect">
            <a:avLst/>
          </a:prstGeom>
          <a:solidFill>
            <a:srgbClr val="FAE100"/>
          </a:solidFill>
          <a:ln w="12700">
            <a:solidFill>
              <a:srgbClr val="FAE100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126480" y="182880"/>
            <a:ext cx="3063240" cy="128016"/>
          </a:xfrm>
          <a:prstGeom prst="rect">
            <a:avLst/>
          </a:prstGeom>
          <a:solidFill>
            <a:srgbClr val="FED34C"/>
          </a:solidFill>
          <a:ln w="12700">
            <a:solidFill>
              <a:srgbClr val="FED34C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89720" y="182880"/>
            <a:ext cx="3001975" cy="128016"/>
          </a:xfrm>
          <a:prstGeom prst="rect">
            <a:avLst/>
          </a:prstGeom>
          <a:solidFill>
            <a:srgbClr val="EBAB00"/>
          </a:solidFill>
          <a:ln w="12700">
            <a:solidFill>
              <a:srgbClr val="EBAB00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38404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Franklin Gothic Medium Cond" pitchFamily="34" charset="0"/>
                <a:ea typeface="Franklin Gothic Medium Cond" pitchFamily="34" charset="-122"/>
                <a:cs typeface="Franklin Gothic Medium Cond" pitchFamily="34" charset="-120"/>
              </a:rPr>
              <a:t>STRATEGY AND REGRET RESULTS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84048" y="822960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i="1" dirty="0">
                <a:solidFill>
                  <a:srgbClr val="4D4D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Native PowerPoint charts rebuilt from additive report summaries.</a:t>
            </a:r>
            <a:endParaRPr lang="en-US" sz="1320" dirty="0"/>
          </a:p>
        </p:txBody>
      </p:sp>
      <p:sp>
        <p:nvSpPr>
          <p:cNvPr id="9" name="Text 7"/>
          <p:cNvSpPr/>
          <p:nvPr/>
        </p:nvSpPr>
        <p:spPr>
          <a:xfrm>
            <a:off x="347472" y="6391656"/>
            <a:ext cx="3886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Additive Public Opinion Shaping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577840" y="6391656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 6</a:t>
            </a:r>
            <a:endParaRPr lang="en-US" sz="950" dirty="0"/>
          </a:p>
        </p:txBody>
      </p:sp>
      <p:pic>
        <p:nvPicPr>
          <p:cNvPr id="11" name="Image 0" descr="C:\Users\szAsh\OneDrive\Desktop\UW\work\ECE752project\additive\slides\additive_report\assets\uw_word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66326" y="6099048"/>
            <a:ext cx="1338629" cy="530352"/>
          </a:xfrm>
          <a:prstGeom prst="rect">
            <a:avLst/>
          </a:prstGeom>
        </p:spPr>
      </p:pic>
      <p:graphicFrame>
        <p:nvGraphicFramePr>
          <p:cNvPr id="12" name="Chart 0" descr=""/>
          <p:cNvGraphicFramePr/>
          <p:nvPr/>
        </p:nvGraphicFramePr>
        <p:xfrm>
          <a:off x="502920" y="1188720"/>
          <a:ext cx="5440680" cy="3154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13" name="Chart 1" descr=""/>
          <p:cNvGraphicFramePr/>
          <p:nvPr/>
        </p:nvGraphicFramePr>
        <p:xfrm>
          <a:off x="6236208" y="1188720"/>
          <a:ext cx="5440680" cy="3154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4" name="Shape 9"/>
          <p:cNvSpPr/>
          <p:nvPr/>
        </p:nvSpPr>
        <p:spPr>
          <a:xfrm>
            <a:off x="713232" y="4553712"/>
            <a:ext cx="4892040" cy="804672"/>
          </a:xfrm>
          <a:prstGeom prst="roundRect">
            <a:avLst>
              <a:gd name="adj" fmla="val 4545"/>
            </a:avLst>
          </a:prstGeom>
          <a:solidFill>
            <a:srgbClr val="FFFDF5"/>
          </a:solidFill>
          <a:ln w="12700">
            <a:solidFill>
              <a:srgbClr val="D7CCA3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713232" y="4553712"/>
            <a:ext cx="4892040" cy="73152"/>
          </a:xfrm>
          <a:prstGeom prst="rect">
            <a:avLst/>
          </a:prstGeom>
          <a:solidFill>
            <a:srgbClr val="EBAB00"/>
          </a:solidFill>
          <a:ln w="12700">
            <a:solidFill>
              <a:srgbClr val="EBAB00">
                <a:alpha val="0"/>
              </a:srgbClr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850392" y="4700016"/>
            <a:ext cx="4617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Franklin Gothic Medium Cond" pitchFamily="34" charset="0"/>
                <a:ea typeface="Franklin Gothic Medium Cond" pitchFamily="34" charset="-122"/>
                <a:cs typeface="Franklin Gothic Medium Cond" pitchFamily="34" charset="-120"/>
              </a:rPr>
              <a:t>Accuracy numbers</a:t>
            </a:r>
            <a:endParaRPr lang="en-US" sz="1800" dirty="0"/>
          </a:p>
        </p:txBody>
      </p:sp>
      <p:sp>
        <p:nvSpPr>
          <p:cNvPr id="17" name="Text 12"/>
          <p:cNvSpPr/>
          <p:nvPr/>
        </p:nvSpPr>
        <p:spPr>
          <a:xfrm>
            <a:off x="850392" y="5084064"/>
            <a:ext cx="4617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D4D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Quantum: 1.000 / 1.000 / 0.984.   MLP: 0.859 / 0.906 / 0.953.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6382512" y="4553712"/>
            <a:ext cx="4892040" cy="804672"/>
          </a:xfrm>
          <a:prstGeom prst="roundRect">
            <a:avLst>
              <a:gd name="adj" fmla="val 4545"/>
            </a:avLst>
          </a:prstGeom>
          <a:solidFill>
            <a:srgbClr val="FFFDF5"/>
          </a:solidFill>
          <a:ln w="12700">
            <a:solidFill>
              <a:srgbClr val="D7CCA3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6382512" y="4553712"/>
            <a:ext cx="4892040" cy="73152"/>
          </a:xfrm>
          <a:prstGeom prst="rect">
            <a:avLst/>
          </a:prstGeom>
          <a:solidFill>
            <a:srgbClr val="BB0F33"/>
          </a:solidFill>
          <a:ln w="12700">
            <a:solidFill>
              <a:srgbClr val="BB0F33">
                <a:alpha val="0"/>
              </a:srgbClr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6519672" y="4700016"/>
            <a:ext cx="4617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Franklin Gothic Medium Cond" pitchFamily="34" charset="0"/>
                <a:ea typeface="Franklin Gothic Medium Cond" pitchFamily="34" charset="-122"/>
                <a:cs typeface="Franklin Gothic Medium Cond" pitchFamily="34" charset="-120"/>
              </a:rPr>
              <a:t>Regret numbers</a:t>
            </a:r>
            <a:endParaRPr lang="en-US" sz="1800" dirty="0"/>
          </a:p>
        </p:txBody>
      </p:sp>
      <p:sp>
        <p:nvSpPr>
          <p:cNvPr id="21" name="Text 16"/>
          <p:cNvSpPr/>
          <p:nvPr/>
        </p:nvSpPr>
        <p:spPr>
          <a:xfrm>
            <a:off x="6519672" y="5084064"/>
            <a:ext cx="4617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D4D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Quantum: 8.9e-06 / 0 / 1.0e-04.   MLP: 1.04e-02 / 2.72e-03 / 3.66e-03.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749808" y="5376672"/>
            <a:ext cx="10424160" cy="457200"/>
          </a:xfrm>
          <a:prstGeom prst="roundRect">
            <a:avLst>
              <a:gd name="adj" fmla="val 8000"/>
            </a:avLst>
          </a:prstGeom>
          <a:solidFill>
            <a:srgbClr val="FFF8DE"/>
          </a:solidFill>
          <a:ln w="12700">
            <a:solidFill>
              <a:srgbClr val="BB0F33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896112" y="5486400"/>
            <a:ext cx="10131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Exact quantum encoding preserves strategy structure, while the learned surrogate remains approximate.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82880"/>
            <a:ext cx="3063240" cy="128016"/>
          </a:xfrm>
          <a:prstGeom prst="rect">
            <a:avLst/>
          </a:prstGeom>
          <a:solidFill>
            <a:srgbClr val="F2EDA8"/>
          </a:solidFill>
          <a:ln w="12700">
            <a:solidFill>
              <a:srgbClr val="F2EDA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063240" y="182880"/>
            <a:ext cx="3063240" cy="128016"/>
          </a:xfrm>
          <a:prstGeom prst="rect">
            <a:avLst/>
          </a:prstGeom>
          <a:solidFill>
            <a:srgbClr val="FAE100"/>
          </a:solidFill>
          <a:ln w="12700">
            <a:solidFill>
              <a:srgbClr val="FAE100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126480" y="182880"/>
            <a:ext cx="3063240" cy="128016"/>
          </a:xfrm>
          <a:prstGeom prst="rect">
            <a:avLst/>
          </a:prstGeom>
          <a:solidFill>
            <a:srgbClr val="FED34C"/>
          </a:solidFill>
          <a:ln w="12700">
            <a:solidFill>
              <a:srgbClr val="FED34C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89720" y="182880"/>
            <a:ext cx="3001975" cy="128016"/>
          </a:xfrm>
          <a:prstGeom prst="rect">
            <a:avLst/>
          </a:prstGeom>
          <a:solidFill>
            <a:srgbClr val="EBAB00"/>
          </a:solidFill>
          <a:ln w="12700">
            <a:solidFill>
              <a:srgbClr val="EBAB00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38404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Franklin Gothic Medium Cond" pitchFamily="34" charset="0"/>
                <a:ea typeface="Franklin Gothic Medium Cond" pitchFamily="34" charset="-122"/>
                <a:cs typeface="Franklin Gothic Medium Cond" pitchFamily="34" charset="-120"/>
              </a:rPr>
              <a:t>EPSILON RESULT AND INTERPRETATION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84048" y="822960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i="1" dirty="0">
                <a:solidFill>
                  <a:srgbClr val="4D4D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Epsilon is a structural consistency check, not the only ranking criterion.</a:t>
            </a:r>
            <a:endParaRPr lang="en-US" sz="1320" dirty="0"/>
          </a:p>
        </p:txBody>
      </p:sp>
      <p:sp>
        <p:nvSpPr>
          <p:cNvPr id="9" name="Text 7"/>
          <p:cNvSpPr/>
          <p:nvPr/>
        </p:nvSpPr>
        <p:spPr>
          <a:xfrm>
            <a:off x="347472" y="6391656"/>
            <a:ext cx="3886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Additive Public Opinion Shaping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577840" y="6391656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 7</a:t>
            </a:r>
            <a:endParaRPr lang="en-US" sz="950" dirty="0"/>
          </a:p>
        </p:txBody>
      </p:sp>
      <p:pic>
        <p:nvPicPr>
          <p:cNvPr id="11" name="Image 0" descr="C:\Users\szAsh\OneDrive\Desktop\UW\work\ECE752project\additive\slides\additive_report\assets\uw_word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66326" y="6099048"/>
            <a:ext cx="1338629" cy="530352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731520" y="1325880"/>
            <a:ext cx="1645920" cy="571500"/>
          </a:xfrm>
          <a:prstGeom prst="rect">
            <a:avLst/>
          </a:prstGeom>
          <a:solidFill>
            <a:srgbClr val="FFF4C9"/>
          </a:solidFill>
          <a:ln w="12700">
            <a:solidFill>
              <a:srgbClr val="D7CCA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86384" y="1371600"/>
            <a:ext cx="1536192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2377440" y="1325880"/>
            <a:ext cx="1645920" cy="571500"/>
          </a:xfrm>
          <a:prstGeom prst="rect">
            <a:avLst/>
          </a:prstGeom>
          <a:solidFill>
            <a:srgbClr val="FFF4C9"/>
          </a:solidFill>
          <a:ln w="12700">
            <a:solidFill>
              <a:srgbClr val="D7CCA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432304" y="1371600"/>
            <a:ext cx="1536192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 Truth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4023360" y="1325880"/>
            <a:ext cx="1645920" cy="571500"/>
          </a:xfrm>
          <a:prstGeom prst="rect">
            <a:avLst/>
          </a:prstGeom>
          <a:solidFill>
            <a:srgbClr val="FFF4C9"/>
          </a:solidFill>
          <a:ln w="12700">
            <a:solidFill>
              <a:srgbClr val="D7CCA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078224" y="1371600"/>
            <a:ext cx="1536192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Quantum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5669280" y="1325880"/>
            <a:ext cx="1645920" cy="571500"/>
          </a:xfrm>
          <a:prstGeom prst="rect">
            <a:avLst/>
          </a:prstGeom>
          <a:solidFill>
            <a:srgbClr val="FFF4C9"/>
          </a:solidFill>
          <a:ln w="12700">
            <a:solidFill>
              <a:srgbClr val="D7CCA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724144" y="1371600"/>
            <a:ext cx="1536192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Residual MLP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731520" y="1897380"/>
            <a:ext cx="1645920" cy="571500"/>
          </a:xfrm>
          <a:prstGeom prst="rect">
            <a:avLst/>
          </a:prstGeom>
          <a:solidFill>
            <a:srgbClr val="FFF4C9"/>
          </a:solidFill>
          <a:ln w="12700">
            <a:solidFill>
              <a:srgbClr val="D7CCA3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86384" y="1943100"/>
            <a:ext cx="1536192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Shallow Low Conflict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2377440" y="1897380"/>
            <a:ext cx="1645920" cy="5715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CCA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2432304" y="1943100"/>
            <a:ext cx="1536192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0.0713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4023360" y="1897380"/>
            <a:ext cx="1645920" cy="5715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CCA3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078224" y="1943100"/>
            <a:ext cx="1536192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0.0713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5669280" y="1897380"/>
            <a:ext cx="1645920" cy="5715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CCA3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724144" y="1943100"/>
            <a:ext cx="1536192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0.0000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731520" y="2468880"/>
            <a:ext cx="1645920" cy="571500"/>
          </a:xfrm>
          <a:prstGeom prst="rect">
            <a:avLst/>
          </a:prstGeom>
          <a:solidFill>
            <a:srgbClr val="FFF4C9"/>
          </a:solidFill>
          <a:ln w="12700">
            <a:solidFill>
              <a:srgbClr val="D7CCA3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86384" y="2514600"/>
            <a:ext cx="1536192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 Conflict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2377440" y="2468880"/>
            <a:ext cx="1645920" cy="5715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CCA3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2432304" y="2514600"/>
            <a:ext cx="1536192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0.0000</a:t>
            </a:r>
            <a:endParaRPr lang="en-US" sz="1300" dirty="0"/>
          </a:p>
        </p:txBody>
      </p:sp>
      <p:sp>
        <p:nvSpPr>
          <p:cNvPr id="32" name="Shape 29"/>
          <p:cNvSpPr/>
          <p:nvPr/>
        </p:nvSpPr>
        <p:spPr>
          <a:xfrm>
            <a:off x="4023360" y="2468880"/>
            <a:ext cx="1645920" cy="5715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CCA3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078224" y="2514600"/>
            <a:ext cx="1536192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0.0000</a:t>
            </a:r>
            <a:endParaRPr lang="en-US" sz="1300" dirty="0"/>
          </a:p>
        </p:txBody>
      </p:sp>
      <p:sp>
        <p:nvSpPr>
          <p:cNvPr id="34" name="Shape 31"/>
          <p:cNvSpPr/>
          <p:nvPr/>
        </p:nvSpPr>
        <p:spPr>
          <a:xfrm>
            <a:off x="5669280" y="2468880"/>
            <a:ext cx="1645920" cy="5715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CCA3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5724144" y="2514600"/>
            <a:ext cx="1536192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0.0000</a:t>
            </a:r>
            <a:endParaRPr lang="en-US" sz="1300" dirty="0"/>
          </a:p>
        </p:txBody>
      </p:sp>
      <p:sp>
        <p:nvSpPr>
          <p:cNvPr id="36" name="Shape 33"/>
          <p:cNvSpPr/>
          <p:nvPr/>
        </p:nvSpPr>
        <p:spPr>
          <a:xfrm>
            <a:off x="731520" y="3040380"/>
            <a:ext cx="1645920" cy="571500"/>
          </a:xfrm>
          <a:prstGeom prst="rect">
            <a:avLst/>
          </a:prstGeom>
          <a:solidFill>
            <a:srgbClr val="FFF4C9"/>
          </a:solidFill>
          <a:ln w="12700">
            <a:solidFill>
              <a:srgbClr val="D7CCA3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786384" y="3086100"/>
            <a:ext cx="1536192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High Conflict</a:t>
            </a:r>
            <a:endParaRPr lang="en-US" sz="1400" dirty="0"/>
          </a:p>
        </p:txBody>
      </p:sp>
      <p:sp>
        <p:nvSpPr>
          <p:cNvPr id="38" name="Shape 35"/>
          <p:cNvSpPr/>
          <p:nvPr/>
        </p:nvSpPr>
        <p:spPr>
          <a:xfrm>
            <a:off x="2377440" y="3040380"/>
            <a:ext cx="1645920" cy="5715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CCA3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2432304" y="3086100"/>
            <a:ext cx="1536192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0.0126</a:t>
            </a:r>
            <a:endParaRPr lang="en-US" sz="1300" dirty="0"/>
          </a:p>
        </p:txBody>
      </p:sp>
      <p:sp>
        <p:nvSpPr>
          <p:cNvPr id="40" name="Shape 37"/>
          <p:cNvSpPr/>
          <p:nvPr/>
        </p:nvSpPr>
        <p:spPr>
          <a:xfrm>
            <a:off x="4023360" y="3040380"/>
            <a:ext cx="1645920" cy="5715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CCA3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4078224" y="3086100"/>
            <a:ext cx="1536192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0.0126</a:t>
            </a:r>
            <a:endParaRPr lang="en-US" sz="1300" dirty="0"/>
          </a:p>
        </p:txBody>
      </p:sp>
      <p:sp>
        <p:nvSpPr>
          <p:cNvPr id="42" name="Shape 39"/>
          <p:cNvSpPr/>
          <p:nvPr/>
        </p:nvSpPr>
        <p:spPr>
          <a:xfrm>
            <a:off x="5669280" y="3040380"/>
            <a:ext cx="1645920" cy="5715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CCA3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5724144" y="3086100"/>
            <a:ext cx="1536192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0.0126</a:t>
            </a:r>
            <a:endParaRPr lang="en-US" sz="1300" dirty="0"/>
          </a:p>
        </p:txBody>
      </p:sp>
      <p:sp>
        <p:nvSpPr>
          <p:cNvPr id="44" name="Shape 41"/>
          <p:cNvSpPr/>
          <p:nvPr/>
        </p:nvSpPr>
        <p:spPr>
          <a:xfrm>
            <a:off x="7726680" y="1417320"/>
            <a:ext cx="3429000" cy="1051560"/>
          </a:xfrm>
          <a:prstGeom prst="roundRect">
            <a:avLst>
              <a:gd name="adj" fmla="val 3478"/>
            </a:avLst>
          </a:prstGeom>
          <a:solidFill>
            <a:srgbClr val="FFFDF5"/>
          </a:solidFill>
          <a:ln w="12700">
            <a:solidFill>
              <a:srgbClr val="D7CCA3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7726680" y="1417320"/>
            <a:ext cx="3429000" cy="73152"/>
          </a:xfrm>
          <a:prstGeom prst="rect">
            <a:avLst/>
          </a:prstGeom>
          <a:solidFill>
            <a:srgbClr val="EBAB00"/>
          </a:solidFill>
          <a:ln w="12700">
            <a:solidFill>
              <a:srgbClr val="EBAB00">
                <a:alpha val="0"/>
              </a:srgbClr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7863840" y="1563624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Franklin Gothic Medium Cond" pitchFamily="34" charset="0"/>
                <a:ea typeface="Franklin Gothic Medium Cond" pitchFamily="34" charset="-122"/>
                <a:cs typeface="Franklin Gothic Medium Cond" pitchFamily="34" charset="-120"/>
              </a:rPr>
              <a:t>Reading the table</a:t>
            </a:r>
            <a:endParaRPr lang="en-US" sz="1800" dirty="0"/>
          </a:p>
        </p:txBody>
      </p:sp>
      <p:sp>
        <p:nvSpPr>
          <p:cNvPr id="47" name="Text 44"/>
          <p:cNvSpPr/>
          <p:nvPr/>
        </p:nvSpPr>
        <p:spPr>
          <a:xfrm>
            <a:off x="7863840" y="1947672"/>
            <a:ext cx="31546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Quantum matches GT because the additive encoding preserves the same terminal distribution.</a:t>
            </a:r>
            <a:endParaRPr lang="en-US" sz="1500" dirty="0"/>
          </a:p>
        </p:txBody>
      </p:sp>
      <p:sp>
        <p:nvSpPr>
          <p:cNvPr id="48" name="Shape 45"/>
          <p:cNvSpPr/>
          <p:nvPr/>
        </p:nvSpPr>
        <p:spPr>
          <a:xfrm>
            <a:off x="7726680" y="2697480"/>
            <a:ext cx="3429000" cy="1051560"/>
          </a:xfrm>
          <a:prstGeom prst="roundRect">
            <a:avLst>
              <a:gd name="adj" fmla="val 3478"/>
            </a:avLst>
          </a:prstGeom>
          <a:solidFill>
            <a:srgbClr val="FFFDF5"/>
          </a:solidFill>
          <a:ln w="12700">
            <a:solidFill>
              <a:srgbClr val="D7CCA3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7726680" y="2697480"/>
            <a:ext cx="3429000" cy="73152"/>
          </a:xfrm>
          <a:prstGeom prst="rect">
            <a:avLst/>
          </a:prstGeom>
          <a:solidFill>
            <a:srgbClr val="BB0F33"/>
          </a:solidFill>
          <a:ln w="12700">
            <a:solidFill>
              <a:srgbClr val="BB0F33">
                <a:alpha val="0"/>
              </a:srgbClr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7863840" y="2843784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Franklin Gothic Medium Cond" pitchFamily="34" charset="0"/>
                <a:ea typeface="Franklin Gothic Medium Cond" pitchFamily="34" charset="-122"/>
                <a:cs typeface="Franklin Gothic Medium Cond" pitchFamily="34" charset="-120"/>
              </a:rPr>
              <a:t>MLP caveat</a:t>
            </a:r>
            <a:endParaRPr lang="en-US" sz="1800" dirty="0"/>
          </a:p>
        </p:txBody>
      </p:sp>
      <p:sp>
        <p:nvSpPr>
          <p:cNvPr id="51" name="Text 48"/>
          <p:cNvSpPr/>
          <p:nvPr/>
        </p:nvSpPr>
        <p:spPr>
          <a:xfrm>
            <a:off x="7863840" y="3227832"/>
            <a:ext cx="31546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MLP is learned, not exact. A low epsilon in one scenario does not certify equivalence.</a:t>
            </a:r>
            <a:endParaRPr lang="en-US" sz="1450" dirty="0"/>
          </a:p>
        </p:txBody>
      </p:sp>
      <p:sp>
        <p:nvSpPr>
          <p:cNvPr id="52" name="Shape 49"/>
          <p:cNvSpPr/>
          <p:nvPr/>
        </p:nvSpPr>
        <p:spPr>
          <a:xfrm>
            <a:off x="768096" y="4069080"/>
            <a:ext cx="10378440" cy="713232"/>
          </a:xfrm>
          <a:prstGeom prst="roundRect">
            <a:avLst>
              <a:gd name="adj" fmla="val 5128"/>
            </a:avLst>
          </a:prstGeom>
          <a:solidFill>
            <a:srgbClr val="FFF4C9"/>
          </a:solidFill>
          <a:ln w="12700">
            <a:solidFill>
              <a:srgbClr val="EBAB00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914400" y="4178808"/>
            <a:ext cx="1008583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Epsilon is reported here to check structural consistency. It should be read together with Accuracy and Regret rather than as a standalone ranking metric.</a:t>
            </a:r>
            <a:endParaRPr lang="en-US" sz="1250" dirty="0"/>
          </a:p>
        </p:txBody>
      </p:sp>
      <p:sp>
        <p:nvSpPr>
          <p:cNvPr id="54" name="Shape 51"/>
          <p:cNvSpPr/>
          <p:nvPr/>
        </p:nvSpPr>
        <p:spPr>
          <a:xfrm>
            <a:off x="896112" y="4937760"/>
            <a:ext cx="73152" cy="73152"/>
          </a:xfrm>
          <a:prstGeom prst="rect">
            <a:avLst/>
          </a:prstGeom>
          <a:solidFill>
            <a:srgbClr val="EBAB00"/>
          </a:solidFill>
          <a:ln w="12700">
            <a:solidFill>
              <a:srgbClr val="EBAB00">
                <a:alpha val="0"/>
              </a:srgbClr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1042416" y="4846320"/>
            <a:ext cx="10003536" cy="544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2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Quantum and ground truth coincide because they induce the same terminal influence distribution in the additive construction.</a:t>
            </a:r>
            <a:endParaRPr lang="en-US" sz="1720" dirty="0"/>
          </a:p>
        </p:txBody>
      </p:sp>
      <p:sp>
        <p:nvSpPr>
          <p:cNvPr id="56" name="Shape 53"/>
          <p:cNvSpPr/>
          <p:nvPr/>
        </p:nvSpPr>
        <p:spPr>
          <a:xfrm>
            <a:off x="896112" y="5555082"/>
            <a:ext cx="73152" cy="73152"/>
          </a:xfrm>
          <a:prstGeom prst="rect">
            <a:avLst/>
          </a:prstGeom>
          <a:solidFill>
            <a:srgbClr val="EBAB00"/>
          </a:solidFill>
          <a:ln w="12700">
            <a:solidFill>
              <a:srgbClr val="EBAB00">
                <a:alpha val="0"/>
              </a:srgbClr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1042416" y="5463642"/>
            <a:ext cx="10003536" cy="544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2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Residual MLP remains useful as a modeling baseline, but it should be interpreted as a learned surrogate rather than as a solver or an exact reformulation.</a:t>
            </a:r>
            <a:endParaRPr lang="en-US" sz="17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82880"/>
            <a:ext cx="3063240" cy="128016"/>
          </a:xfrm>
          <a:prstGeom prst="rect">
            <a:avLst/>
          </a:prstGeom>
          <a:solidFill>
            <a:srgbClr val="F2EDA8"/>
          </a:solidFill>
          <a:ln w="12700">
            <a:solidFill>
              <a:srgbClr val="F2EDA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063240" y="182880"/>
            <a:ext cx="3063240" cy="128016"/>
          </a:xfrm>
          <a:prstGeom prst="rect">
            <a:avLst/>
          </a:prstGeom>
          <a:solidFill>
            <a:srgbClr val="FAE100"/>
          </a:solidFill>
          <a:ln w="12700">
            <a:solidFill>
              <a:srgbClr val="FAE100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126480" y="182880"/>
            <a:ext cx="3063240" cy="128016"/>
          </a:xfrm>
          <a:prstGeom prst="rect">
            <a:avLst/>
          </a:prstGeom>
          <a:solidFill>
            <a:srgbClr val="FED34C"/>
          </a:solidFill>
          <a:ln w="12700">
            <a:solidFill>
              <a:srgbClr val="FED34C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89720" y="182880"/>
            <a:ext cx="3001975" cy="128016"/>
          </a:xfrm>
          <a:prstGeom prst="rect">
            <a:avLst/>
          </a:prstGeom>
          <a:solidFill>
            <a:srgbClr val="EBAB00"/>
          </a:solidFill>
          <a:ln w="12700">
            <a:solidFill>
              <a:srgbClr val="EBAB00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38404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Franklin Gothic Medium Cond" pitchFamily="34" charset="0"/>
                <a:ea typeface="Franklin Gothic Medium Cond" pitchFamily="34" charset="-122"/>
                <a:cs typeface="Franklin Gothic Medium Cond" pitchFamily="34" charset="-120"/>
              </a:rPr>
              <a:t>OBSERVABLE ESTIMATION BENCHMARK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84048" y="822960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i="1" dirty="0">
                <a:solidFill>
                  <a:srgbClr val="4D4D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Amplitude Estimation vs Monte Carlo under matched query budgets.</a:t>
            </a:r>
            <a:endParaRPr lang="en-US" sz="1320" dirty="0"/>
          </a:p>
        </p:txBody>
      </p:sp>
      <p:sp>
        <p:nvSpPr>
          <p:cNvPr id="9" name="Text 7"/>
          <p:cNvSpPr/>
          <p:nvPr/>
        </p:nvSpPr>
        <p:spPr>
          <a:xfrm>
            <a:off x="347472" y="6391656"/>
            <a:ext cx="3886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Additive Public Opinion Shaping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577840" y="6391656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 8</a:t>
            </a:r>
            <a:endParaRPr lang="en-US" sz="950" dirty="0"/>
          </a:p>
        </p:txBody>
      </p:sp>
      <p:pic>
        <p:nvPicPr>
          <p:cNvPr id="11" name="Image 0" descr="C:\Users\szAsh\OneDrive\Desktop\UW\work\ECE752project\additive\slides\additive_report\assets\uw_word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66326" y="6099048"/>
            <a:ext cx="1338629" cy="530352"/>
          </a:xfrm>
          <a:prstGeom prst="rect">
            <a:avLst/>
          </a:prstGeom>
        </p:spPr>
      </p:pic>
      <p:graphicFrame>
        <p:nvGraphicFramePr>
          <p:cNvPr id="12" name="Chart 0" descr=""/>
          <p:cNvGraphicFramePr/>
          <p:nvPr/>
        </p:nvGraphicFramePr>
        <p:xfrm>
          <a:off x="566928" y="1207008"/>
          <a:ext cx="6720840" cy="3794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3" name="Shape 9"/>
          <p:cNvSpPr/>
          <p:nvPr/>
        </p:nvSpPr>
        <p:spPr>
          <a:xfrm>
            <a:off x="7635240" y="1389888"/>
            <a:ext cx="3520440" cy="877824"/>
          </a:xfrm>
          <a:prstGeom prst="roundRect">
            <a:avLst>
              <a:gd name="adj" fmla="val 4167"/>
            </a:avLst>
          </a:prstGeom>
          <a:solidFill>
            <a:srgbClr val="FFFDF5"/>
          </a:solidFill>
          <a:ln w="12700">
            <a:solidFill>
              <a:srgbClr val="D7CCA3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7635240" y="1389888"/>
            <a:ext cx="3520440" cy="73152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>
                <a:alpha val="0"/>
              </a:srgbClr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7772400" y="1536192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Franklin Gothic Medium Cond" pitchFamily="34" charset="0"/>
                <a:ea typeface="Franklin Gothic Medium Cond" pitchFamily="34" charset="-122"/>
                <a:cs typeface="Franklin Gothic Medium Cond" pitchFamily="34" charset="-120"/>
              </a:rPr>
              <a:t>Budget 8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7772400" y="1920240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D4D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AE 0.0190 vs MC 0.0266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7635240" y="2487168"/>
            <a:ext cx="3520440" cy="877824"/>
          </a:xfrm>
          <a:prstGeom prst="roundRect">
            <a:avLst>
              <a:gd name="adj" fmla="val 4167"/>
            </a:avLst>
          </a:prstGeom>
          <a:solidFill>
            <a:srgbClr val="FFFDF5"/>
          </a:solidFill>
          <a:ln w="12700">
            <a:solidFill>
              <a:srgbClr val="D7CCA3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7635240" y="2487168"/>
            <a:ext cx="3520440" cy="73152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>
                <a:alpha val="0"/>
              </a:srgbClr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7772400" y="2633472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Franklin Gothic Medium Cond" pitchFamily="34" charset="0"/>
                <a:ea typeface="Franklin Gothic Medium Cond" pitchFamily="34" charset="-122"/>
                <a:cs typeface="Franklin Gothic Medium Cond" pitchFamily="34" charset="-120"/>
              </a:rPr>
              <a:t>Budget 64</a:t>
            </a:r>
            <a:endParaRPr lang="en-US" sz="1800" dirty="0"/>
          </a:p>
        </p:txBody>
      </p:sp>
      <p:sp>
        <p:nvSpPr>
          <p:cNvPr id="20" name="Text 16"/>
          <p:cNvSpPr/>
          <p:nvPr/>
        </p:nvSpPr>
        <p:spPr>
          <a:xfrm>
            <a:off x="7772400" y="3017520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D4D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AE 0.00255 vs MC 0.00919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7635240" y="3584448"/>
            <a:ext cx="3520440" cy="877824"/>
          </a:xfrm>
          <a:prstGeom prst="roundRect">
            <a:avLst>
              <a:gd name="adj" fmla="val 4167"/>
            </a:avLst>
          </a:prstGeom>
          <a:solidFill>
            <a:srgbClr val="FFFDF5"/>
          </a:solidFill>
          <a:ln w="12700">
            <a:solidFill>
              <a:srgbClr val="D7CCA3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7635240" y="3584448"/>
            <a:ext cx="3520440" cy="73152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>
                <a:alpha val="0"/>
              </a:srgbClr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7772400" y="3730752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Franklin Gothic Medium Cond" pitchFamily="34" charset="0"/>
                <a:ea typeface="Franklin Gothic Medium Cond" pitchFamily="34" charset="-122"/>
                <a:cs typeface="Franklin Gothic Medium Cond" pitchFamily="34" charset="-120"/>
              </a:rPr>
              <a:t>Budget 256</a:t>
            </a:r>
            <a:endParaRPr lang="en-US" sz="1800" dirty="0"/>
          </a:p>
        </p:txBody>
      </p:sp>
      <p:sp>
        <p:nvSpPr>
          <p:cNvPr id="24" name="Text 20"/>
          <p:cNvSpPr/>
          <p:nvPr/>
        </p:nvSpPr>
        <p:spPr>
          <a:xfrm>
            <a:off x="7772400" y="4114800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D4D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AE 0.000579 vs MC 0.00475</a:t>
            </a:r>
            <a:endParaRPr lang="en-US" sz="1200" dirty="0"/>
          </a:p>
        </p:txBody>
      </p:sp>
      <p:sp>
        <p:nvSpPr>
          <p:cNvPr id="25" name="Shape 21"/>
          <p:cNvSpPr/>
          <p:nvPr/>
        </p:nvSpPr>
        <p:spPr>
          <a:xfrm>
            <a:off x="804672" y="5321808"/>
            <a:ext cx="10287000" cy="384048"/>
          </a:xfrm>
          <a:prstGeom prst="roundRect">
            <a:avLst>
              <a:gd name="adj" fmla="val 9524"/>
            </a:avLst>
          </a:prstGeom>
          <a:solidFill>
            <a:srgbClr val="FFF8DE"/>
          </a:solidFill>
          <a:ln w="12700">
            <a:solidFill>
              <a:srgbClr val="BB0F33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950976" y="5431536"/>
            <a:ext cx="99943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this observable-estimation task, amplitude estimation achieves lower estimation error than classical sampling at every tested query budget.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82880"/>
            <a:ext cx="3063240" cy="128016"/>
          </a:xfrm>
          <a:prstGeom prst="rect">
            <a:avLst/>
          </a:prstGeom>
          <a:solidFill>
            <a:srgbClr val="F2EDA8"/>
          </a:solidFill>
          <a:ln w="12700">
            <a:solidFill>
              <a:srgbClr val="F2EDA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063240" y="182880"/>
            <a:ext cx="3063240" cy="128016"/>
          </a:xfrm>
          <a:prstGeom prst="rect">
            <a:avLst/>
          </a:prstGeom>
          <a:solidFill>
            <a:srgbClr val="FAE100"/>
          </a:solidFill>
          <a:ln w="12700">
            <a:solidFill>
              <a:srgbClr val="FAE100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126480" y="182880"/>
            <a:ext cx="3063240" cy="128016"/>
          </a:xfrm>
          <a:prstGeom prst="rect">
            <a:avLst/>
          </a:prstGeom>
          <a:solidFill>
            <a:srgbClr val="FED34C"/>
          </a:solidFill>
          <a:ln w="12700">
            <a:solidFill>
              <a:srgbClr val="FED34C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89720" y="182880"/>
            <a:ext cx="3001975" cy="128016"/>
          </a:xfrm>
          <a:prstGeom prst="rect">
            <a:avLst/>
          </a:prstGeom>
          <a:solidFill>
            <a:srgbClr val="EBAB00"/>
          </a:solidFill>
          <a:ln w="12700">
            <a:solidFill>
              <a:srgbClr val="EBAB00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38404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Franklin Gothic Medium Cond" pitchFamily="34" charset="0"/>
                <a:ea typeface="Franklin Gothic Medium Cond" pitchFamily="34" charset="-122"/>
                <a:cs typeface="Franklin Gothic Medium Cond" pitchFamily="34" charset="-120"/>
              </a:rPr>
              <a:t>WHAT THE RESULTS SUPPORT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84048" y="822960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i="1" dirty="0">
                <a:solidFill>
                  <a:srgbClr val="4D4D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strict claim boundary is part of the contribution.</a:t>
            </a:r>
            <a:endParaRPr lang="en-US" sz="1320" dirty="0"/>
          </a:p>
        </p:txBody>
      </p:sp>
      <p:sp>
        <p:nvSpPr>
          <p:cNvPr id="9" name="Text 7"/>
          <p:cNvSpPr/>
          <p:nvPr/>
        </p:nvSpPr>
        <p:spPr>
          <a:xfrm>
            <a:off x="347472" y="6391656"/>
            <a:ext cx="3886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Additive Public Opinion Shaping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577840" y="6391656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 9</a:t>
            </a:r>
            <a:endParaRPr lang="en-US" sz="950" dirty="0"/>
          </a:p>
        </p:txBody>
      </p:sp>
      <p:pic>
        <p:nvPicPr>
          <p:cNvPr id="11" name="Image 0" descr="C:\Users\szAsh\OneDrive\Desktop\UW\work\ECE752project\additive\slides\additive_report\assets\uw_word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66326" y="6099048"/>
            <a:ext cx="1338629" cy="530352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749808" y="1234440"/>
            <a:ext cx="5074920" cy="3520440"/>
          </a:xfrm>
          <a:prstGeom prst="roundRect">
            <a:avLst>
              <a:gd name="adj" fmla="val 1039"/>
            </a:avLst>
          </a:prstGeom>
          <a:solidFill>
            <a:srgbClr val="FFFDF5"/>
          </a:solidFill>
          <a:ln w="12700">
            <a:solidFill>
              <a:srgbClr val="D7CCA3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49808" y="1234440"/>
            <a:ext cx="5074920" cy="73152"/>
          </a:xfrm>
          <a:prstGeom prst="rect">
            <a:avLst/>
          </a:prstGeom>
          <a:solidFill>
            <a:srgbClr val="EBAB00"/>
          </a:solidFill>
          <a:ln w="12700">
            <a:solidFill>
              <a:srgbClr val="EBAB00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86968" y="1380744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Franklin Gothic Medium Cond" pitchFamily="34" charset="0"/>
                <a:ea typeface="Franklin Gothic Medium Cond" pitchFamily="34" charset="-122"/>
                <a:cs typeface="Franklin Gothic Medium Cond" pitchFamily="34" charset="-120"/>
              </a:rPr>
              <a:t>Supported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886968" y="1764792"/>
            <a:ext cx="4800600" cy="2843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45" dirty="0">
                <a:solidFill>
                  <a:srgbClr val="4D4D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Exact quantum encoding preserves additive strategic structure.</a:t>
            </a:r>
            <a:endParaRPr lang="en-US" sz="1645" dirty="0"/>
          </a:p>
          <a:p>
            <a:pPr indent="0" marL="0">
              <a:buNone/>
            </a:pPr>
            <a:endParaRPr lang="en-US" sz="1645" dirty="0"/>
          </a:p>
          <a:p>
            <a:pPr indent="0" marL="0">
              <a:buNone/>
            </a:pPr>
            <a:r>
              <a:rPr lang="en-US" sz="1645" dirty="0">
                <a:solidFill>
                  <a:srgbClr val="4D4D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Best responses, regret, and epsilon agree with GT up to AE discretization.</a:t>
            </a:r>
            <a:endParaRPr lang="en-US" sz="1645" dirty="0"/>
          </a:p>
          <a:p>
            <a:pPr indent="0" marL="0">
              <a:buNone/>
            </a:pPr>
            <a:endParaRPr lang="en-US" sz="1645" dirty="0"/>
          </a:p>
          <a:p>
            <a:pPr indent="0" marL="0">
              <a:buNone/>
            </a:pPr>
            <a:r>
              <a:rPr lang="en-US" sz="1645" dirty="0">
                <a:solidFill>
                  <a:srgbClr val="4D4D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AE beats Monte Carlo on observable-payoff error at equal query budgets.</a:t>
            </a:r>
            <a:endParaRPr lang="en-US" sz="1645" dirty="0"/>
          </a:p>
        </p:txBody>
      </p:sp>
      <p:sp>
        <p:nvSpPr>
          <p:cNvPr id="16" name="Shape 13"/>
          <p:cNvSpPr/>
          <p:nvPr/>
        </p:nvSpPr>
        <p:spPr>
          <a:xfrm>
            <a:off x="6327648" y="1234440"/>
            <a:ext cx="5074920" cy="3520440"/>
          </a:xfrm>
          <a:prstGeom prst="roundRect">
            <a:avLst>
              <a:gd name="adj" fmla="val 1039"/>
            </a:avLst>
          </a:prstGeom>
          <a:solidFill>
            <a:srgbClr val="FFFDF5"/>
          </a:solidFill>
          <a:ln w="12700">
            <a:solidFill>
              <a:srgbClr val="D7CCA3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327648" y="1234440"/>
            <a:ext cx="5074920" cy="73152"/>
          </a:xfrm>
          <a:prstGeom prst="rect">
            <a:avLst/>
          </a:prstGeom>
          <a:solidFill>
            <a:srgbClr val="BB0F33"/>
          </a:solidFill>
          <a:ln w="12700">
            <a:solidFill>
              <a:srgbClr val="BB0F33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464808" y="1380744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Franklin Gothic Medium Cond" pitchFamily="34" charset="0"/>
                <a:ea typeface="Franklin Gothic Medium Cond" pitchFamily="34" charset="-122"/>
                <a:cs typeface="Franklin Gothic Medium Cond" pitchFamily="34" charset="-120"/>
              </a:rPr>
              <a:t>Not Supported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6464808" y="1764792"/>
            <a:ext cx="4800600" cy="2843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45" dirty="0">
                <a:solidFill>
                  <a:srgbClr val="4D4D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Universal quantum dominance over classical methods.</a:t>
            </a:r>
            <a:endParaRPr lang="en-US" sz="1645" dirty="0"/>
          </a:p>
          <a:p>
            <a:pPr indent="0" marL="0">
              <a:buNone/>
            </a:pPr>
            <a:endParaRPr lang="en-US" sz="1645" dirty="0"/>
          </a:p>
          <a:p>
            <a:pPr indent="0" marL="0">
              <a:buNone/>
            </a:pPr>
            <a:r>
              <a:rPr lang="en-US" sz="1645" dirty="0">
                <a:solidFill>
                  <a:srgbClr val="4D4D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Hardware-level wall-clock speedup claims.</a:t>
            </a:r>
            <a:endParaRPr lang="en-US" sz="1645" dirty="0"/>
          </a:p>
          <a:p>
            <a:pPr indent="0" marL="0">
              <a:buNone/>
            </a:pPr>
            <a:endParaRPr lang="en-US" sz="1645" dirty="0"/>
          </a:p>
          <a:p>
            <a:pPr indent="0" marL="0">
              <a:buNone/>
            </a:pPr>
            <a:r>
              <a:rPr lang="en-US" sz="1645" dirty="0">
                <a:solidFill>
                  <a:srgbClr val="4D4D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Claims beyond the additive estimation benchmark.</a:t>
            </a:r>
            <a:endParaRPr lang="en-US" sz="1645" dirty="0"/>
          </a:p>
        </p:txBody>
      </p:sp>
      <p:sp>
        <p:nvSpPr>
          <p:cNvPr id="20" name="Shape 17"/>
          <p:cNvSpPr/>
          <p:nvPr/>
        </p:nvSpPr>
        <p:spPr>
          <a:xfrm>
            <a:off x="960120" y="5102352"/>
            <a:ext cx="10058400" cy="502920"/>
          </a:xfrm>
          <a:prstGeom prst="roundRect">
            <a:avLst>
              <a:gd name="adj" fmla="val 7273"/>
            </a:avLst>
          </a:prstGeom>
          <a:solidFill>
            <a:srgbClr val="FFF4C9"/>
          </a:solidFill>
          <a:ln w="12700">
            <a:solidFill>
              <a:srgbClr val="EBAB0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106424" y="5212080"/>
            <a:ext cx="976579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boundary makes the additive story defensible: exact encoding is a structural statement, while AE provides the measurable performance advantage on a specific observable-estimation task.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82880"/>
            <a:ext cx="3063240" cy="128016"/>
          </a:xfrm>
          <a:prstGeom prst="rect">
            <a:avLst/>
          </a:prstGeom>
          <a:solidFill>
            <a:srgbClr val="F2EDA8"/>
          </a:solidFill>
          <a:ln w="12700">
            <a:solidFill>
              <a:srgbClr val="F2EDA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063240" y="182880"/>
            <a:ext cx="3063240" cy="128016"/>
          </a:xfrm>
          <a:prstGeom prst="rect">
            <a:avLst/>
          </a:prstGeom>
          <a:solidFill>
            <a:srgbClr val="FAE100"/>
          </a:solidFill>
          <a:ln w="12700">
            <a:solidFill>
              <a:srgbClr val="FAE100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126480" y="182880"/>
            <a:ext cx="3063240" cy="128016"/>
          </a:xfrm>
          <a:prstGeom prst="rect">
            <a:avLst/>
          </a:prstGeom>
          <a:solidFill>
            <a:srgbClr val="FED34C"/>
          </a:solidFill>
          <a:ln w="12700">
            <a:solidFill>
              <a:srgbClr val="FED34C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89720" y="182880"/>
            <a:ext cx="3001975" cy="128016"/>
          </a:xfrm>
          <a:prstGeom prst="rect">
            <a:avLst/>
          </a:prstGeom>
          <a:solidFill>
            <a:srgbClr val="EBAB00"/>
          </a:solidFill>
          <a:ln w="12700">
            <a:solidFill>
              <a:srgbClr val="EBAB00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38404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Franklin Gothic Medium Cond" pitchFamily="34" charset="0"/>
                <a:ea typeface="Franklin Gothic Medium Cond" pitchFamily="34" charset="-122"/>
                <a:cs typeface="Franklin Gothic Medium Cond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84048" y="822960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i="1" dirty="0">
                <a:solidFill>
                  <a:srgbClr val="4D4D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takeaways for the additive-only report.</a:t>
            </a:r>
            <a:endParaRPr lang="en-US" sz="1320" dirty="0"/>
          </a:p>
        </p:txBody>
      </p:sp>
      <p:sp>
        <p:nvSpPr>
          <p:cNvPr id="9" name="Text 7"/>
          <p:cNvSpPr/>
          <p:nvPr/>
        </p:nvSpPr>
        <p:spPr>
          <a:xfrm>
            <a:off x="347472" y="6391656"/>
            <a:ext cx="3886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Additive Public Opinion Shaping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577840" y="6391656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 10</a:t>
            </a:r>
            <a:endParaRPr lang="en-US" sz="950" dirty="0"/>
          </a:p>
        </p:txBody>
      </p:sp>
      <p:pic>
        <p:nvPicPr>
          <p:cNvPr id="11" name="Image 0" descr="C:\Users\szAsh\OneDrive\Desktop\UW\work\ECE752project\additive\slides\additive_report\assets\uw_word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66326" y="6099048"/>
            <a:ext cx="1338629" cy="530352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640080" y="1234440"/>
            <a:ext cx="3474720" cy="1143000"/>
          </a:xfrm>
          <a:prstGeom prst="roundRect">
            <a:avLst>
              <a:gd name="adj" fmla="val 3200"/>
            </a:avLst>
          </a:prstGeom>
          <a:solidFill>
            <a:srgbClr val="FFFDF5"/>
          </a:solidFill>
          <a:ln w="12700">
            <a:solidFill>
              <a:srgbClr val="D7CCA3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40080" y="1234440"/>
            <a:ext cx="3474720" cy="7315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77240" y="1380744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Franklin Gothic Medium Cond" pitchFamily="34" charset="0"/>
                <a:ea typeface="Franklin Gothic Medium Cond" pitchFamily="34" charset="-122"/>
                <a:cs typeface="Franklin Gothic Medium Cond" pitchFamily="34" charset="-120"/>
              </a:rPr>
              <a:t>Takeaway 1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777240" y="1764792"/>
            <a:ext cx="32004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D4D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Additive ground truth makes public-opinion shaping explicit and strategically testable.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370832" y="1234440"/>
            <a:ext cx="3474720" cy="1143000"/>
          </a:xfrm>
          <a:prstGeom prst="roundRect">
            <a:avLst>
              <a:gd name="adj" fmla="val 3200"/>
            </a:avLst>
          </a:prstGeom>
          <a:solidFill>
            <a:srgbClr val="FFFDF5"/>
          </a:solidFill>
          <a:ln w="12700">
            <a:solidFill>
              <a:srgbClr val="D7CCA3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370832" y="1234440"/>
            <a:ext cx="3474720" cy="73152"/>
          </a:xfrm>
          <a:prstGeom prst="rect">
            <a:avLst/>
          </a:prstGeom>
          <a:solidFill>
            <a:srgbClr val="EBAB00"/>
          </a:solidFill>
          <a:ln w="12700">
            <a:solidFill>
              <a:srgbClr val="EBAB00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507992" y="1380744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Franklin Gothic Medium Cond" pitchFamily="34" charset="0"/>
                <a:ea typeface="Franklin Gothic Medium Cond" pitchFamily="34" charset="-122"/>
                <a:cs typeface="Franklin Gothic Medium Cond" pitchFamily="34" charset="-120"/>
              </a:rPr>
              <a:t>Takeaway 2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4507992" y="1764792"/>
            <a:ext cx="32004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D4D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Quantum encoding is exact at the strategic level in this additive construction.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8092440" y="1234440"/>
            <a:ext cx="3474720" cy="1143000"/>
          </a:xfrm>
          <a:prstGeom prst="roundRect">
            <a:avLst>
              <a:gd name="adj" fmla="val 3200"/>
            </a:avLst>
          </a:prstGeom>
          <a:solidFill>
            <a:srgbClr val="FFFDF5"/>
          </a:solidFill>
          <a:ln w="12700">
            <a:solidFill>
              <a:srgbClr val="D7CCA3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8092440" y="1234440"/>
            <a:ext cx="3474720" cy="73152"/>
          </a:xfrm>
          <a:prstGeom prst="rect">
            <a:avLst/>
          </a:prstGeom>
          <a:solidFill>
            <a:srgbClr val="BB0F33"/>
          </a:solidFill>
          <a:ln w="12700">
            <a:solidFill>
              <a:srgbClr val="BB0F33">
                <a:alpha val="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229600" y="1380744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Franklin Gothic Medium Cond" pitchFamily="34" charset="0"/>
                <a:ea typeface="Franklin Gothic Medium Cond" pitchFamily="34" charset="-122"/>
                <a:cs typeface="Franklin Gothic Medium Cond" pitchFamily="34" charset="-120"/>
              </a:rPr>
              <a:t>Takeaway 3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8229600" y="1764792"/>
            <a:ext cx="32004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D4D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Amplitude estimation gives the clean performance advantage in measurable observable-payoff estimation.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841248" y="2880360"/>
            <a:ext cx="10241280" cy="1280160"/>
          </a:xfrm>
          <a:prstGeom prst="roundRect">
            <a:avLst>
              <a:gd name="adj" fmla="val 2857"/>
            </a:avLst>
          </a:prstGeom>
          <a:solidFill>
            <a:srgbClr val="FFFDF5"/>
          </a:solidFill>
          <a:ln w="12700">
            <a:solidFill>
              <a:srgbClr val="D7CCA3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841248" y="2880360"/>
            <a:ext cx="10241280" cy="73152"/>
          </a:xfrm>
          <a:prstGeom prst="rect">
            <a:avLst/>
          </a:prstGeom>
          <a:solidFill>
            <a:srgbClr val="EBAB00"/>
          </a:solidFill>
          <a:ln w="12700">
            <a:solidFill>
              <a:srgbClr val="EBAB00">
                <a:alpha val="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978408" y="3026664"/>
            <a:ext cx="9966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Franklin Gothic Medium Cond" pitchFamily="34" charset="0"/>
                <a:ea typeface="Franklin Gothic Medium Cond" pitchFamily="34" charset="-122"/>
                <a:cs typeface="Franklin Gothic Medium Cond" pitchFamily="34" charset="-120"/>
              </a:rPr>
              <a:t>Oral closing statement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978408" y="3410712"/>
            <a:ext cx="9966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4D4D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the additive setting, the quantum contribution is an exact strategic encoding plus a cleaner route to observable-payoff estimation.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960120" y="4663440"/>
            <a:ext cx="73152" cy="73152"/>
          </a:xfrm>
          <a:prstGeom prst="rect">
            <a:avLst/>
          </a:prstGeom>
          <a:solidFill>
            <a:srgbClr val="EBAB00"/>
          </a:solidFill>
          <a:ln w="12700">
            <a:solidFill>
              <a:srgbClr val="EBAB00">
                <a:alpha val="0"/>
              </a:srgbClr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1106424" y="4572000"/>
            <a:ext cx="98663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additive deck is intentionally narrower than the full route-2 report and avoids legacy-baseline claims in its main conclusion.</a:t>
            </a:r>
            <a:endParaRPr lang="en-US" sz="1800" dirty="0"/>
          </a:p>
        </p:txBody>
      </p:sp>
      <p:sp>
        <p:nvSpPr>
          <p:cNvPr id="30" name="Shape 27"/>
          <p:cNvSpPr/>
          <p:nvPr/>
        </p:nvSpPr>
        <p:spPr>
          <a:xfrm>
            <a:off x="960120" y="5340096"/>
            <a:ext cx="73152" cy="73152"/>
          </a:xfrm>
          <a:prstGeom prst="rect">
            <a:avLst/>
          </a:prstGeom>
          <a:solidFill>
            <a:srgbClr val="EBAB00"/>
          </a:solidFill>
          <a:ln w="12700">
            <a:solidFill>
              <a:srgbClr val="EBAB00">
                <a:alpha val="0"/>
              </a:srgbClr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1106424" y="5248656"/>
            <a:ext cx="98663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rigorous claim is about preserved strategic structure and benchmarked observable estimation, not about universal quantum advantage.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Barlow Condense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Georgi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University of Waterloo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Additive Public Opinion Shaping: Exact Quantum Encoding and Observable Estimation</dc:title>
  <dc:subject>Additive public opinion shaping report</dc:subject>
  <dc:creator>OpenAI Codex</dc:creator>
  <cp:lastModifiedBy>OpenAI Codex</cp:lastModifiedBy>
  <cp:revision>1</cp:revision>
  <dcterms:created xsi:type="dcterms:W3CDTF">2026-04-10T06:32:14Z</dcterms:created>
  <dcterms:modified xsi:type="dcterms:W3CDTF">2026-04-10T06:32:14Z</dcterms:modified>
</cp:coreProperties>
</file>